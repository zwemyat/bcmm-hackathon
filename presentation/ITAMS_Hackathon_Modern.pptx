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gradFill flip="none" rotWithShape="1">
            <a:gsLst>
              <a:gs pos="0">
                <a:srgbClr val="1D4ED8"/>
              </a:gs>
              <a:gs pos="100000">
                <a:srgbClr val="0F172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300">
                <a:solidFill>
                  <a:srgbClr val="94A3B8"/>
                </a:solidFill>
                <a:latin typeface="Calibri"/>
              </a:rPr>
              <a:t>HACKATHON 2026   ·   IT INFRASTRUCTURE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502920" cy="50292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033271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50">
                <a:solidFill>
                  <a:srgbClr val="FFFFFF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0" b="1">
                <a:solidFill>
                  <a:srgbClr val="FFFFFF"/>
                </a:solidFill>
                <a:latin typeface="Calibri"/>
              </a:rPr>
              <a:t>ITAMS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023360"/>
            <a:ext cx="219456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An enterprise IT asset management platform.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09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Track devices, licenses &amp; subscriptions — never miss a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300">
                <a:solidFill>
                  <a:srgbClr val="64748B"/>
                </a:solidFill>
                <a:latin typeface="Calibri"/>
              </a:rP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807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Team ITAMS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695" y="5760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300">
                <a:solidFill>
                  <a:srgbClr val="64748B"/>
                </a:solidFill>
                <a:latin typeface="Calibri"/>
              </a:rPr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695" y="6080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02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IT teams lose visibility and money</a:t>
            </a:r>
          </a:p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managing assets in spreadsheets.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167" y="402336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9487" y="429768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87" y="42976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3847" y="427939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Manual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3847" y="461772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Devices, licenses &amp; subscriptions scattered across disconnected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402336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61607" y="429768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42976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7939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Missed renewals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5967" y="461772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Contracts expire or auto-renew without warning, causing downtime or waste.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167" y="54864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9487" y="576072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487" y="5760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3847" y="574243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No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3847" y="608076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No record of who changed what, when — failing internal compliance reviews.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54864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61607" y="576072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5760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5967" y="574243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Hidden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5967" y="608076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Duplicate purchases and unused subscriptions inflate IT spend 20–30%.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Our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03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A single platform for the entire</a:t>
            </a:r>
          </a:p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IT asset lifecycle.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ITAMS unifies hardware, devices, licenses, and subscriptions — with automated renewal reminders, role-based access, and a full audit 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147" y="448056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147" y="448056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5187" y="47548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187" y="4754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187" y="5394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Unify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187" y="58521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One source of truth for every IT asset across the organisation.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9907" y="448056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9907" y="448056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9947" y="47548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9947" y="4754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9947" y="5394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Automate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9947" y="58521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Email and in-app reminders fire before things expire.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4667" y="448056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4667" y="448056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04707" y="47548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4707" y="4754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4707" y="5394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Govern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707" y="58521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Role-based access with full activity history per user.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System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04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327" y="228600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327" y="2286000"/>
            <a:ext cx="329184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647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TIER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647" y="28346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647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Browser · Blade · Bootstrap 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84167.5" y="3017520.0"/>
            <a:ext cx="320040.0" cy="0.0"/>
          </a:xfrm>
          <a:prstGeom prst="line">
            <a:avLst/>
          </a:prstGeom>
          <a:ln w="15875">
            <a:solidFill>
              <a:srgbClr val="94A3B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49927" y="228600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49927" y="2286000"/>
            <a:ext cx="329184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4247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TIER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4247" y="28346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247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Laravel 11 · Controllers · Mailables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41767.5" y="3017520.0"/>
            <a:ext cx="320040.0" cy="0.0"/>
          </a:xfrm>
          <a:prstGeom prst="line">
            <a:avLst/>
          </a:prstGeom>
          <a:ln w="15875">
            <a:solidFill>
              <a:srgbClr val="94A3B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07527" y="228600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7527" y="2286000"/>
            <a:ext cx="329184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1847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TIER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847" y="28346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MySQL 8 · Eloquent 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2327" y="4023360"/>
            <a:ext cx="10607040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2367" y="4160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BACKGROUND SERVICES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2367" y="448056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2367" y="44805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9567" y="4462272"/>
            <a:ext cx="286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Scheduler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9567" y="4681728"/>
            <a:ext cx="286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app:check-expirations · daily 09:00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687" y="448056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687" y="44805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1887" y="4462272"/>
            <a:ext cx="286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SMTP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1887" y="4681728"/>
            <a:ext cx="286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Renewal reminder emails to recipients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57007" y="448056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57007" y="44805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207" y="4462272"/>
            <a:ext cx="286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Activity 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4207" y="4681728"/>
            <a:ext cx="286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Per-user audit trail of every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327" y="5029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FUNCTIONAL MODULES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2327" y="5303520"/>
            <a:ext cx="1229868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327" y="5303520"/>
            <a:ext cx="12298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PC Master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1923" y="5303520"/>
            <a:ext cx="1613916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1923" y="5303520"/>
            <a:ext cx="16139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Device Master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55567" y="5303520"/>
            <a:ext cx="1613916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55567" y="5303520"/>
            <a:ext cx="16139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Subscriptions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79211" y="5303520"/>
            <a:ext cx="22860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9211" y="5303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Licenses &amp; Contracts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74939" y="5303520"/>
            <a:ext cx="1613916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74939" y="5303520"/>
            <a:ext cx="16139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Notifications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98583" y="5303520"/>
            <a:ext cx="18059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8583" y="5303520"/>
            <a:ext cx="18059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User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05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46888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Asset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PCs, devices, software licenses and subscriptions in one 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19456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9160" y="246888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4688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063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Smart reminders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290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Daily scheduler emails configurable recipients before renewals lapse.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19456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246888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4688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63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4290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Admin / per-module view &amp; edit permissions enforced by middleware.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1480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8912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891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Every create, update, delete logged with user, time and field diff.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411480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09160" y="438912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3891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Bulk import/export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Excel import &amp; export per module, with downloadable templates.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11480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03920" y="438912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3891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Configurable mail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Switch between .env SMTP and database settings without redeploying.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06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" y="2194560"/>
            <a:ext cx="3657600" cy="3840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567" y="2194560"/>
            <a:ext cx="365760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0887" y="24231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887" y="2423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3807" y="24688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Frontend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0887.5" y="3264408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9487" y="31363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Bootstrap 5.3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487" y="3383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UI &amp; responsive grid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0887.5" y="3922776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29487" y="3794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Bootstrap Icons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487" y="40416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Iconography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0887.5" y="4581144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9487" y="44531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Inter font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487" y="47000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Enterprise typeface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0887.5" y="5239512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9487" y="51114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Vanilla 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487" y="53583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Lightweight interactivity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7047" y="2194560"/>
            <a:ext cx="3657600" cy="3840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67047" y="2194560"/>
            <a:ext cx="365760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41367" y="24231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1367" y="2423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4287" y="24688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Backend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41367.5" y="3264408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69967" y="31363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Laravel 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9967" y="3383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MVC framework, Eloquent ORM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41367.5" y="3922776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769967" y="3794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PHP 8.2+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9967" y="40416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Typed properties, modern syntax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41367.5" y="4581144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69967" y="44531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Blade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9967" y="47000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Server-rendered templating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41367.5" y="5239512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69967" y="51114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Maatwebsite/Excel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9967" y="53583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Import &amp; export to .xlsx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07527" y="2194560"/>
            <a:ext cx="3657600" cy="3840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07527" y="2194560"/>
            <a:ext cx="365760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81847" y="24231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1847" y="2423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4767" y="24688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Data &amp; Infra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81847.5" y="3264408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610447" y="31363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MySQL 8 / MariaDB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10447" y="3383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Relational storage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81847.5" y="3922776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610447" y="3794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Symfony Mailer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0447" y="40416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SMTP delivery via Laravel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81847.5" y="4581144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610447" y="44531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XAMPP / Apache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10447" y="47000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On-prem hosting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81847.5" y="5239512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610447" y="51114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Cron scheduler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10447" y="53583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Daily expiry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How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07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5751" y="2907792"/>
            <a:ext cx="10680192" cy="36576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42135" y="28346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78711" y="28712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2871" y="25146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2871" y="3246120"/>
            <a:ext cx="2121408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471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Onboard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471" y="3977640"/>
            <a:ext cx="16642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Admin adds assets or imports an .xlsx 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73271" y="28346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09847" y="28712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4007" y="25146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04007" y="3246120"/>
            <a:ext cx="2121408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2607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2607" y="3977640"/>
            <a:ext cx="16642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Modules show real-time status across the estate.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04407" y="28346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40983" y="28712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35143" y="25146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35143" y="3246120"/>
            <a:ext cx="2121408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3743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Detect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3743" y="3977640"/>
            <a:ext cx="16642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Daily scheduler scans for items in the renewal window.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5543" y="28346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72119" y="28712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6279" y="25146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6279" y="3246120"/>
            <a:ext cx="2121408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4879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Notify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4879" y="3977640"/>
            <a:ext cx="16642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Email + in-app alerts fire to configured recipients.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66679" y="28346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503255" y="28712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97415" y="25146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97415" y="3246120"/>
            <a:ext cx="2121408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6015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Renew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6015" y="3977640"/>
            <a:ext cx="16642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Owners renew or terminate; status auto-updates.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Per-day dedupe prevents the same item being re-notified more than once daily.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UI / UX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08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Designed for daily IT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077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Modern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72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Liquid-glass cards over soft gradient surfaces.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9300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9300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74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Light &amp; dark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3989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Theme persists across sessions per user.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59936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599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416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Inter typography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0682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Tight letter-spacing, optimized for scanning.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268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268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6085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Accessibility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7375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Keyboard nav, ARIA labels, visible focus rings.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9379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1937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17550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Responsive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440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Sidebar rail on tablet; full reflow on mobile.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2194560"/>
            <a:ext cx="4754880" cy="3840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858000" y="2578608"/>
            <a:ext cx="47548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022592" y="2322576"/>
            <a:ext cx="146304" cy="146304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42048" y="2322576"/>
            <a:ext cx="146304" cy="146304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61504" y="2322576"/>
            <a:ext cx="146304" cy="146304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72400" y="2286000"/>
            <a:ext cx="3657600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228600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itams.local / 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2578608"/>
            <a:ext cx="960120" cy="34564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7818120" y="2578608"/>
            <a:ext cx="0" cy="3456432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976872" y="2724912"/>
            <a:ext cx="292608" cy="292608"/>
          </a:xfrm>
          <a:prstGeom prst="roundRect">
            <a:avLst>
              <a:gd name="adj" fmla="val 25000"/>
            </a:avLst>
          </a:prstGeom>
          <a:noFill/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76872" y="27249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76148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5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49440" y="3163824"/>
            <a:ext cx="822960" cy="256032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320040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349300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PC Master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7856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Devices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407822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Subscriptions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43708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Licenses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466344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Activity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01000" y="2834640"/>
            <a:ext cx="804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01000" y="2834640"/>
            <a:ext cx="804672" cy="45720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2953512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128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33375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PCS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78824" y="2834640"/>
            <a:ext cx="804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78824" y="2834640"/>
            <a:ext cx="804672" cy="45720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15984" y="2953512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64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15984" y="33375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DEVICES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56648" y="2834640"/>
            <a:ext cx="804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56648" y="2834640"/>
            <a:ext cx="804672" cy="45720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93808" y="2953512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32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93808" y="33375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ACTIVE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634472" y="2834640"/>
            <a:ext cx="804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634472" y="2834640"/>
            <a:ext cx="804672" cy="45720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771632" y="2953512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71632" y="33375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EXPIRING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01000" y="3840480"/>
            <a:ext cx="347472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183880" y="5001768"/>
            <a:ext cx="164592" cy="576072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551926" y="4672584"/>
            <a:ext cx="164592" cy="905256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919972" y="4823460"/>
            <a:ext cx="164592" cy="75438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288018" y="4411980"/>
            <a:ext cx="164592" cy="116586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656064" y="4754881"/>
            <a:ext cx="164592" cy="822959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024110" y="4274821"/>
            <a:ext cx="164592" cy="1303019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392156" y="4617721"/>
            <a:ext cx="164592" cy="960119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760202" y="4892040"/>
            <a:ext cx="164592" cy="6858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1128248" y="4507992"/>
            <a:ext cx="164592" cy="1069848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Benefits &amp;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09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" y="2377440"/>
            <a:ext cx="2697480" cy="3108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56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887" y="283464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30%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0887.5" y="4160520"/>
            <a:ext cx="45720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0887" y="4297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lower IT 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47091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Eliminates duplicate purchases &amp; unused subscriptions.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6927" y="2377440"/>
            <a:ext cx="2697480" cy="3108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0692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1247" y="283464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81247.5" y="4160520"/>
            <a:ext cx="45720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81247" y="4297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missed renewals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247" y="47091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Automatic reminders for every tracked asset.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2377440"/>
            <a:ext cx="2697480" cy="3108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28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1607" y="283464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100%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61607.5" y="4160520"/>
            <a:ext cx="45720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61607" y="4297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audit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47091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Every change logged with user, time, and diff.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647" y="2377440"/>
            <a:ext cx="2697480" cy="3108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6764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1967" y="283464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5×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41967.5" y="4160520"/>
            <a:ext cx="45720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341967" y="4297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faster onboarding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1967" y="47091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Bulk Excel import replaces manual entry.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Challenges we faced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10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86000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286000"/>
            <a:ext cx="54864" cy="914400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20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4505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Mail deliverability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743200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Some SMTP servers reject mailbox addresses without warning. Solved with graceful per-recipient error handling and configurable lists.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19272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19272"/>
            <a:ext cx="54864" cy="914400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021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200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48386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Notification dedupe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76472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Re-running the daily check could spam recipients. Per-day uniqueness check on the notifications table prevents duplicates.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52544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352544"/>
            <a:ext cx="54864" cy="914400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3542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200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51713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Permission granularity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09744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Initial admin/user split was too coarse. Evolved into a per-module view/edit boolean grid matching real team structures.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85816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385816"/>
            <a:ext cx="54864" cy="914400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6869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20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5504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Cross-entity expiry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843016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Subscriptions and licenses use different status fields. Refactored into two parallel passes sharing a recipient resolver.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Future improvements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11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327" y="3273552"/>
            <a:ext cx="10607040" cy="36576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0987" y="2651760"/>
            <a:ext cx="8229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0987" y="2651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15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1027" y="32004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66747" y="32461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447" y="3566160"/>
            <a:ext cx="260604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047" y="3886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Mobile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" y="43891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Native iOS / Android for on-the-go asset check-in &amp; QR scanning.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9907" y="2651760"/>
            <a:ext cx="8229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9907" y="2651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15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09947" y="32004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55667" y="32461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98367" y="3566160"/>
            <a:ext cx="260604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6967" y="3886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Integrations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6967" y="43891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Slack, Microsoft Teams, and Jira Service Desk webhooks.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78827" y="2651760"/>
            <a:ext cx="8229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8827" y="2651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15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98867" y="32004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44587" y="32461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7287" y="3566160"/>
            <a:ext cx="260604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5887" y="3886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AI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5887" y="43891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Forecast costs and recommend consolidation opportunities.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67747" y="2651760"/>
            <a:ext cx="8229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67747" y="2651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15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87787" y="32004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233507" y="32461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76207" y="3566160"/>
            <a:ext cx="260604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4807" y="3886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Multi-tenant SaaS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4807" y="43891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Org isolation, SSO/SAML, per-tenant billing.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Team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12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" y="246888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26667" y="2880360"/>
            <a:ext cx="1097280" cy="109728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6667" y="28803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567" y="4251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567" y="46177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Project Lead / Backend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00987.5" y="5029200"/>
            <a:ext cx="54864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06927" y="246888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07027" y="2880360"/>
            <a:ext cx="1097280" cy="109728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7027" y="28803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06927" y="4251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6927" y="46177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Frontend / UI Engineer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81347.5" y="5029200"/>
            <a:ext cx="54864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87287" y="246888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87387" y="2880360"/>
            <a:ext cx="1097280" cy="109728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7387" y="28803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4251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46177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Full-Stack Developer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61707.5" y="5029200"/>
            <a:ext cx="54864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067647" y="246888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67747" y="2880360"/>
            <a:ext cx="1097280" cy="109728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7747" y="28803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7647" y="4251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7647" y="46177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Database / DevOps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42067.5" y="5029200"/>
            <a:ext cx="54864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13 / 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From spreadsheets to a single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source of truth.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4903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ITAMS gives IT teams the visibility and automation they need.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847" y="475488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167" y="50292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167" y="50292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9527" y="5029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Ready to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9527" y="5394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Runs on a standard Laravel + LAMP / XAMPP stack.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7047" y="475488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41367" y="50292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367" y="50292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5727" y="5029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Designed for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5727" y="5394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Modern UI with dark mode and accessibility built 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3247" y="475488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7567" y="50292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7567" y="50292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1927" y="5029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Built to extend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1927" y="5394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Modular architecture invites new asset types &amp; integrations.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gradFill flip="none" rotWithShape="1">
            <a:gsLst>
              <a:gs pos="0">
                <a:srgbClr val="1D4ED8"/>
              </a:gs>
              <a:gs pos="100000">
                <a:srgbClr val="0F172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36576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300">
                <a:solidFill>
                  <a:srgbClr val="94A3B8"/>
                </a:solidFill>
                <a:latin typeface="Calibri"/>
              </a:rP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47207" y="4572000"/>
            <a:ext cx="109728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spc="300">
                <a:solidFill>
                  <a:srgbClr val="94A3B8"/>
                </a:solidFill>
                <a:latin typeface="Calibri"/>
              </a:rPr>
              <a:t>TEAM ITAMS  ·  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[ contact email / repo link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