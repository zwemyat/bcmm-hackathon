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gradFill flip="none" rotWithShape="1">
            <a:gsLst>
              <a:gs pos="0">
                <a:srgbClr val="1D4ED8"/>
              </a:gs>
              <a:gs pos="100000">
                <a:srgbClr val="4F46E5"/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90895" y="-1371600"/>
            <a:ext cx="8229600" cy="8229600"/>
          </a:xfrm>
          <a:prstGeom prst="rect">
            <a:avLst/>
          </a:prstGeom>
          <a:gradFill flip="none" rotWithShape="1">
            <a:gsLst>
              <a:gs pos="0">
                <a:srgbClr val="2563EB">
                  <a:alpha val="22000"/>
                </a:srgbClr>
              </a:gs>
              <a:gs pos="100000">
                <a:srgbClr val="4F46E5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FFFF"/>
                </a:solidFill>
                <a:latin typeface="Calibri"/>
              </a:rPr>
              <a:t>HACKATHON 2026  ·  IT INFRASTRUCTURE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0789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50">
                <a:solidFill>
                  <a:srgbClr val="FFFFFF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17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00">
                <a:solidFill>
                  <a:srgbClr val="FFFFFF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 spc="-25">
                <a:solidFill>
                  <a:srgbClr val="FFFFFF"/>
                </a:solidFill>
                <a:latin typeface="Calibri"/>
              </a:rPr>
              <a:t>Every IT asset.</a:t>
            </a:r>
          </a:p>
          <a:p>
            <a:pPr algn="l"/>
            <a:r>
              <a:rPr sz="5400" b="1" i="0" spc="-25">
                <a:solidFill>
                  <a:srgbClr val="FFFFFF"/>
                </a:solidFill>
                <a:latin typeface="Calibri"/>
              </a:rPr>
              <a:t>One source of truth.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84048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 spc="-10">
                <a:solidFill>
                  <a:srgbClr val="0F172A"/>
                </a:solidFill>
                <a:latin typeface="Calibri"/>
              </a:rPr>
              <a:t>Enterprise-grade asset, license &amp; subscription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Built on Laravel 11 · MySQL · Bootstrap 5  —  on-premise 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692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64748B"/>
                </a:solidFill>
                <a:latin typeface="Calibri"/>
              </a:rPr>
              <a:t>PRESENTED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Team ITAMS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695" y="56692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300">
                <a:solidFill>
                  <a:srgbClr val="64748B"/>
                </a:solidFill>
                <a:latin typeface="Calibri"/>
              </a:rPr>
              <a:t>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695" y="5989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0F172A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TEAM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 spc="-15">
                <a:solidFill>
                  <a:srgbClr val="0F172A"/>
                </a:solidFill>
                <a:latin typeface="Calibri"/>
              </a:rPr>
              <a:t>Meet the team.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02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Four cross-functional engineers building enterprise IT operations tooling.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447" y="2560320"/>
            <a:ext cx="26060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447" y="2560320"/>
            <a:ext cx="260604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63827" y="3063240"/>
            <a:ext cx="1097280" cy="1097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3827" y="30632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" y="443483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[Member 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" y="4846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Project Lead / Backend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83867.5" y="5349240"/>
            <a:ext cx="45720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9447" y="5440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64748B"/>
                </a:solidFill>
                <a:latin typeface="Calibri"/>
              </a:rPr>
              <a:t>Architecture · APIs · DB 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8367" y="2560320"/>
            <a:ext cx="26060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98367" y="2560320"/>
            <a:ext cx="260604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52747" y="3063240"/>
            <a:ext cx="1097280" cy="1097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52747" y="30632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8367" y="443483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[Member 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8367" y="4846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Frontend / UI Engineer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72787.5" y="5349240"/>
            <a:ext cx="457200.0" cy="0"/>
          </a:xfrm>
          <a:prstGeom prst="line">
            <a:avLst/>
          </a:prstGeom>
          <a:ln w="190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98367" y="5440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64748B"/>
                </a:solidFill>
                <a:latin typeface="Calibri"/>
              </a:rPr>
              <a:t>Bootstrap · UX · accessibility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287" y="2560320"/>
            <a:ext cx="26060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7287" y="2560320"/>
            <a:ext cx="260604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1667" y="3063240"/>
            <a:ext cx="1097280" cy="1097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1667" y="30632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7287" y="443483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[Member 3]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7287" y="4846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Full-Stack Developer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261707.5" y="5349240"/>
            <a:ext cx="457200.0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87287" y="5440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64748B"/>
                </a:solidFill>
                <a:latin typeface="Calibri"/>
              </a:rPr>
              <a:t>Laravel · integrations · testing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76207" y="2560320"/>
            <a:ext cx="26060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76207" y="2560320"/>
            <a:ext cx="260604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30587" y="3063240"/>
            <a:ext cx="1097280" cy="1097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0B981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0587" y="30632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6207" y="4434839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[Member 4]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6207" y="4846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Database / DevOps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050627.5" y="5349240"/>
            <a:ext cx="457200.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976207" y="5440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64748B"/>
                </a:solidFill>
                <a:latin typeface="Calibri"/>
              </a:rPr>
              <a:t>MySQL · scheduler ·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Why IT teams are struggling.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03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IT estates are growing —</a:t>
            </a:r>
          </a:p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the tools to manage them aren't.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427" y="4206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427" y="420624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747" y="457200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 spc="-25">
                <a:solidFill>
                  <a:srgbClr val="2563EB"/>
                </a:solidFill>
                <a:latin typeface="Calibri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747" y="525780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of IT teams still track assets in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747" y="56692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Industry survey, 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9907" y="4206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9907" y="420624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4227" y="457200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 spc="-25">
                <a:solidFill>
                  <a:srgbClr val="2563EB"/>
                </a:solidFill>
                <a:latin typeface="Calibri"/>
              </a:rPr>
              <a:t>$1.3K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4227" y="525780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wasted per employee on unused licenses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4227" y="56692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Gartner, 2023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387" y="420624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387" y="420624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4707" y="457200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 spc="-25">
                <a:solidFill>
                  <a:srgbClr val="2563EB"/>
                </a:solidFill>
                <a:latin typeface="Calibri"/>
              </a:rPr>
              <a:t>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4707" y="525780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of subscriptions auto-renew unnoticed each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707" y="56692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Flexera State of ITAM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CURRENT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What goes wrong every day.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04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307" y="21945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347" y="25146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347" y="2514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3867" y="251460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Manual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3867" y="2926080"/>
            <a:ext cx="4069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Spreadsheets sprawl across drives. No single owner, no real-time view, no version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21945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0187" y="25146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0187" y="2514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1707" y="251460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Missed renewals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1707" y="2926080"/>
            <a:ext cx="4069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Subscriptions auto-renew or expire without warning — outages and surprise invoices follow.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307" y="42519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347" y="45720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347" y="4572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EF4444"/>
                </a:solidFill>
                <a:latin typeface="Calibri"/>
              </a:rPr>
              <a:t>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3867" y="457200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No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3867" y="4983480"/>
            <a:ext cx="4069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When something breaks, no one knows who changed it, when, or why. Compliance reviews fail.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147" y="42519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0187" y="45720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0187" y="4572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4F46E5"/>
                </a:solidFill>
                <a:latin typeface="Calibri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1707" y="457200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Shadow IT spend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1707" y="4983480"/>
            <a:ext cx="4069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Duplicate purchases and forgotten subscriptions inflate the IT bill 20–30% silently.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ITAMS · one platform, full lifecycle.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05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ITAMS unifies hardware, devices, licenses and subscriptions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with automated renewal reminders, role-based access, and a full audit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427" y="3703320"/>
            <a:ext cx="36118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9427" y="370332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467" y="40233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467" y="40233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467" y="47548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-15">
                <a:solidFill>
                  <a:srgbClr val="0F172A"/>
                </a:solidFill>
                <a:latin typeface="Calibri"/>
              </a:rPr>
              <a:t>Unify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467" y="525780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One source of truth for every IT asset across the organisation.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9907" y="3703320"/>
            <a:ext cx="36118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9907" y="370332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9947" y="40233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9947" y="40233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4F46E5"/>
                </a:solidFill>
                <a:latin typeface="Calibri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9947" y="47548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-15">
                <a:solidFill>
                  <a:srgbClr val="0F172A"/>
                </a:solidFill>
                <a:latin typeface="Calibri"/>
              </a:rPr>
              <a:t>Automate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9947" y="525780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Email and in-app reminders fire before things expire.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0387" y="3703320"/>
            <a:ext cx="36118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0387" y="370332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50427" y="402336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0427" y="40233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0427" y="47548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-15">
                <a:solidFill>
                  <a:srgbClr val="0F172A"/>
                </a:solidFill>
                <a:latin typeface="Calibri"/>
              </a:rPr>
              <a:t>Govern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0427" y="525780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Role-based access with full activity history per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What lives inside ITAMS.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06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4247" y="3291840"/>
            <a:ext cx="2743200" cy="118872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247" y="34564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FFFFFF"/>
                </a:solidFill>
                <a:latin typeface="Calibri"/>
              </a:rPr>
              <a:t>CORE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247" y="37307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 spc="-15">
                <a:solidFill>
                  <a:srgbClr val="FFFFFF"/>
                </a:solidFill>
                <a:latin typeface="Calibri"/>
              </a:rPr>
              <a:t>ITAMS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47" y="4133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Laravel 11 · MySQL · Blade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194560"/>
            <a:ext cx="28803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194560"/>
            <a:ext cx="54864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25146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487168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PC 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8346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Workstations &amp; laptops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7600" y="2788920.0"/>
            <a:ext cx="1066647.5" cy="822960.0"/>
          </a:xfrm>
          <a:prstGeom prst="line">
            <a:avLst/>
          </a:prstGeom>
          <a:ln w="12700">
            <a:solidFill>
              <a:srgbClr val="CBD5E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4434840"/>
            <a:ext cx="28803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434840"/>
            <a:ext cx="54864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" y="4754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4F46E5"/>
                </a:solidFill>
                <a:latin typeface="Calibri"/>
              </a:rPr>
              <a:t>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727448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Device 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07492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Network hardware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657600" y="4171950.0"/>
            <a:ext cx="1066647.5" cy="857250.0"/>
          </a:xfrm>
          <a:prstGeom prst="line">
            <a:avLst/>
          </a:prstGeom>
          <a:ln w="12700">
            <a:solidFill>
              <a:srgbClr val="CBD5E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534095" y="2194560"/>
            <a:ext cx="28803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34095" y="2194560"/>
            <a:ext cx="54864" cy="1188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62695" y="25146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2695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6B6D4"/>
                </a:solidFill>
                <a:latin typeface="Calibri"/>
              </a:rPr>
              <a:t>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2775" y="2487168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Subscriptions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2775" y="283464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Recurring services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467447.5" y="2788920.0"/>
            <a:ext cx="1066647.5" cy="822960.0"/>
          </a:xfrm>
          <a:prstGeom prst="line">
            <a:avLst/>
          </a:prstGeom>
          <a:ln w="12700">
            <a:solidFill>
              <a:srgbClr val="CBD5E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534095" y="4434840"/>
            <a:ext cx="28803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34095" y="4434840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62695" y="4754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2695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  <a:latin typeface="Calibri"/>
              </a:rP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2775" y="4727448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Licenses &amp; Contracts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2775" y="507492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Software &amp; contracts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7467447.5" y="4171950.0"/>
            <a:ext cx="1066647.5" cy="857250.0"/>
          </a:xfrm>
          <a:prstGeom prst="line">
            <a:avLst/>
          </a:prstGeom>
          <a:ln w="12700">
            <a:solidFill>
              <a:srgbClr val="CBD5E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85800" y="187451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64748B"/>
                </a:solidFill>
                <a:latin typeface="Calibri"/>
              </a:rPr>
              <a:t>ADMINS  ·  IT STAFF  ·  ASSET OWNERS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407" y="5760720"/>
            <a:ext cx="2194560" cy="4572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32407" y="5760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Scheduler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09847" y="5760720"/>
            <a:ext cx="2194560" cy="4572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09847" y="5760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SMTP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87287" y="5760720"/>
            <a:ext cx="2194560" cy="4572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87287" y="5760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Activity Log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64727" y="5760720"/>
            <a:ext cx="2194560" cy="4572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64727" y="5760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Calibri"/>
              </a:rPr>
              <a:t>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What ITAMS does for IT teams.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07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Unified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PCs, devices, licenses and subscriptions in one searchable estate.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19456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60" y="2468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4F46E5"/>
                </a:solidFill>
                <a:latin typeface="Calibri"/>
              </a:rPr>
              <a:t>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1089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Smart reminders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74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Daily scheduler sends staggered digests at the day-marks you choose.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9456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2468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  <a:latin typeface="Calibri"/>
              </a:rPr>
              <a:t>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1089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74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Per-module view &amp; edit permissions enforced server-side by middleware.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0624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480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8B5CF6"/>
                </a:solidFill>
                <a:latin typeface="Calibri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206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Full 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Every create, update and delete logged with user, time and field diff.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420624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09160" y="4480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480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1206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Bulk import /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486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Excel import &amp; export per module, with downloadable templates.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20624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03920" y="4480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480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6B6D4"/>
                </a:solidFill>
                <a:latin typeface="Calibr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1206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Live status badge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486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Topbar bell counts overdue and due-soon items per user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DASHBOARD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At-a-glance visibility on every screen.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08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11680"/>
            <a:ext cx="77724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85800" y="2377440"/>
            <a:ext cx="77724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21305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21305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25296" y="21305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08760" y="2103120"/>
            <a:ext cx="6766560" cy="201168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2103120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itams.local /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377440"/>
            <a:ext cx="1280160" cy="3794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965960" y="2377440"/>
            <a:ext cx="0" cy="379476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0392" y="25146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25146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55117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26664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06324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35584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PC 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64845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Device 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94106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Subscriptions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23367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Licenses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45262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81888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Activity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25146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-10">
                <a:solidFill>
                  <a:srgbClr val="0F172A"/>
                </a:solidFill>
                <a:latin typeface="Calibri"/>
              </a:rPr>
              <a:t>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2788920"/>
            <a:ext cx="6126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Welcome back — here's what needs your attention.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48840" y="3108960"/>
            <a:ext cx="1417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48840" y="3108960"/>
            <a:ext cx="4572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321868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200">
                <a:solidFill>
                  <a:srgbClr val="64748B"/>
                </a:solidFill>
                <a:latin typeface="Calibri"/>
              </a:rPr>
              <a:t>PCS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45643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128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39312" y="3108960"/>
            <a:ext cx="1417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39312" y="3108960"/>
            <a:ext cx="45720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76472" y="321868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200">
                <a:solidFill>
                  <a:srgbClr val="64748B"/>
                </a:solidFill>
                <a:latin typeface="Calibri"/>
              </a:rPr>
              <a:t>DEVICES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6472" y="345643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64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9784" y="3108960"/>
            <a:ext cx="1417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29784" y="3108960"/>
            <a:ext cx="4572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66944" y="321868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200">
                <a:solidFill>
                  <a:srgbClr val="64748B"/>
                </a:solidFill>
                <a:latin typeface="Calibri"/>
              </a:rPr>
              <a:t>ACTIVE SUBS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944" y="345643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32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20256" y="3108960"/>
            <a:ext cx="1417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20256" y="3108960"/>
            <a:ext cx="45720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57416" y="321868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200">
                <a:solidFill>
                  <a:srgbClr val="64748B"/>
                </a:solidFill>
                <a:latin typeface="Calibri"/>
              </a:rPr>
              <a:t>EXPIRING SOON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7416" y="345643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48840" y="4114800"/>
            <a:ext cx="336956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13432" y="4224528"/>
            <a:ext cx="30952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Expiring soon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3432" y="4434840"/>
            <a:ext cx="30952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Next 30 days · 5 items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4754880"/>
            <a:ext cx="16847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</a:rPr>
              <a:t>Office 365 E3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31720" y="4937760"/>
            <a:ext cx="16847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Microsoft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13732" y="4800600"/>
            <a:ext cx="640080" cy="201168"/>
          </a:xfrm>
          <a:prstGeom prst="roundRect">
            <a:avLst>
              <a:gd name="adj" fmla="val 4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3732" y="480060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EF4444"/>
                </a:solidFill>
                <a:latin typeface="Calibri"/>
              </a:rPr>
              <a:t>3 days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720" y="5120640"/>
            <a:ext cx="16847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</a:rPr>
              <a:t>Cloudflare Pro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1720" y="5303520"/>
            <a:ext cx="16847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Cloudflare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13732" y="5166360"/>
            <a:ext cx="640080" cy="201168"/>
          </a:xfrm>
          <a:prstGeom prst="roundRect">
            <a:avLst>
              <a:gd name="adj" fmla="val 4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13732" y="516636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59E0B"/>
                </a:solidFill>
                <a:latin typeface="Calibri"/>
              </a:rPr>
              <a:t>8 days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1720" y="5486400"/>
            <a:ext cx="16847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</a:rPr>
              <a:t>Adobe Creative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669280"/>
            <a:ext cx="16847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Adobe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13732" y="5532120"/>
            <a:ext cx="640080" cy="201168"/>
          </a:xfrm>
          <a:prstGeom prst="roundRect">
            <a:avLst>
              <a:gd name="adj" fmla="val 4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3732" y="553212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59E0B"/>
                </a:solidFill>
                <a:latin typeface="Calibri"/>
              </a:rPr>
              <a:t>14 days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31720" y="5852160"/>
            <a:ext cx="16847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</a:rPr>
              <a:t>AWS Reserved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31720" y="6035040"/>
            <a:ext cx="16847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Amazon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13732" y="5897880"/>
            <a:ext cx="640080" cy="201168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3732" y="58978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563EB"/>
                </a:solidFill>
                <a:latin typeface="Calibri"/>
              </a:rPr>
              <a:t>21 days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31720" y="6217920"/>
            <a:ext cx="16847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  <a:latin typeface="Calibri"/>
              </a:rPr>
              <a:t>GitHub Team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1720" y="6400800"/>
            <a:ext cx="16847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GitHub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13732" y="6263640"/>
            <a:ext cx="640080" cy="201168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3732" y="626364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2563EB"/>
                </a:solidFill>
                <a:latin typeface="Calibri"/>
              </a:rPr>
              <a:t>27 days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55564" y="4114800"/>
            <a:ext cx="2619755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20156" y="4224528"/>
            <a:ext cx="23454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Recent activity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20156" y="4434840"/>
            <a:ext cx="234543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838444" y="4818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03036" y="4754880"/>
            <a:ext cx="21168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[Member 1] renewed Office 365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03036" y="4937760"/>
            <a:ext cx="211683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09:12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838444" y="52029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03036" y="5138928"/>
            <a:ext cx="21168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[Member 2] added 4 new PCs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03036" y="5321808"/>
            <a:ext cx="211683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08:54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838444" y="5586984"/>
            <a:ext cx="91440" cy="914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03036" y="5522976"/>
            <a:ext cx="21168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[Member 4] updated SMTP settings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03036" y="5705856"/>
            <a:ext cx="211683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08:21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838444" y="59710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03036" y="5907024"/>
            <a:ext cx="21168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Reminder digest sent (12 items)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03036" y="6089904"/>
            <a:ext cx="211683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08:00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0" y="2194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0" y="2176272"/>
            <a:ext cx="2361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Live KPI tiles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0" y="2487168"/>
            <a:ext cx="2361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Real-time counts of PCs, devices, active subs, and items expiring soon.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800" y="3566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0" y="3547872"/>
            <a:ext cx="2361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Expiring soon panel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00" y="3858768"/>
            <a:ext cx="2361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Color-coded urgency: red within 7 days, amber within 14, blue beyond.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0" y="49377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0" y="4919472"/>
            <a:ext cx="2361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Recent activity feed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0" y="5230368"/>
            <a:ext cx="2361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Audit-log tail showing what changed today and by whom.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 spc="-15">
                <a:solidFill>
                  <a:srgbClr val="0F172A"/>
                </a:solidFill>
                <a:latin typeface="Calibri"/>
              </a:rPr>
              <a:t>How a subscription becomes a renewal reminder.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09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191" y="3227832"/>
            <a:ext cx="10497312" cy="36576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2871" y="27432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9255" y="2971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59255" y="2971800"/>
            <a:ext cx="548640" cy="54864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9255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871" y="3749040"/>
            <a:ext cx="212140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751" y="402336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-10">
                <a:solidFill>
                  <a:srgbClr val="0F172A"/>
                </a:solidFill>
                <a:latin typeface="Calibri"/>
              </a:rPr>
              <a:t>Onboard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751" y="4617720"/>
            <a:ext cx="17556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Admin adds the subscription or imports an .xlsx.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4007" y="27432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4F46E5"/>
                </a:solidFill>
                <a:latin typeface="Calibri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90391" y="2971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90391" y="2971800"/>
            <a:ext cx="548640" cy="54864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0391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4F46E5"/>
                </a:solidFill>
                <a:latin typeface="Calibri"/>
              </a:rPr>
              <a:t>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4007" y="3749040"/>
            <a:ext cx="212140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86887" y="402336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-10">
                <a:solidFill>
                  <a:srgbClr val="0F172A"/>
                </a:solidFill>
                <a:latin typeface="Calibri"/>
              </a:rP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6887" y="4617720"/>
            <a:ext cx="17556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ITAMS recalculates reminder_date on every save.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5143" y="27432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21527" y="2971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21527" y="2971800"/>
            <a:ext cx="548640" cy="54864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1527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35143" y="3749040"/>
            <a:ext cx="212140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8023" y="402336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-10">
                <a:solidFill>
                  <a:srgbClr val="0F172A"/>
                </a:solidFill>
                <a:latin typeface="Calibri"/>
              </a:rPr>
              <a:t>Detect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8023" y="4617720"/>
            <a:ext cx="17556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Daily scheduler scans for items at each day-mark.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6279" y="27432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52663" y="2971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52663" y="2971800"/>
            <a:ext cx="548640" cy="54864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2663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6279" y="3749040"/>
            <a:ext cx="212140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9159" y="402336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-10">
                <a:solidFill>
                  <a:srgbClr val="0F172A"/>
                </a:solidFill>
                <a:latin typeface="Calibri"/>
              </a:rPr>
              <a:t>Notify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9159" y="4617720"/>
            <a:ext cx="17556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Digest email + in-app badge alert recipients.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7415" y="27432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10B981"/>
                </a:solidFill>
                <a:latin typeface="Calibri"/>
              </a:rPr>
              <a:t>05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83799" y="29718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283799" y="2971800"/>
            <a:ext cx="548640" cy="54864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3799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97415" y="3749040"/>
            <a:ext cx="212140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80295" y="402336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-10">
                <a:solidFill>
                  <a:srgbClr val="0F172A"/>
                </a:solidFill>
                <a:latin typeface="Calibri"/>
              </a:rPr>
              <a:t>Renew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0295" y="4617720"/>
            <a:ext cx="17556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Owner clicks Renew; status &amp; history auto-update.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Per-user inbox tracks read state by signature — items re-surface if urgency shifts.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A clean 3-tier monolith.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10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747" y="2194560"/>
            <a:ext cx="33375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3747" y="2194560"/>
            <a:ext cx="333756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8067" y="242316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TIER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067" y="26974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0F172A"/>
                </a:solidFill>
                <a:latin typeface="Calibri"/>
              </a:rPr>
              <a:t>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067" y="31546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Blade · Bootstrap 5 · Inter font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1307.5" y="2903220.0"/>
            <a:ext cx="320040.0" cy="0.0"/>
          </a:xfrm>
          <a:prstGeom prst="line">
            <a:avLst/>
          </a:prstGeom>
          <a:ln w="15875">
            <a:solidFill>
              <a:srgbClr val="94A3B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27067" y="2194560"/>
            <a:ext cx="33375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27067" y="2194560"/>
            <a:ext cx="333756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1387" y="242316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TIER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1387" y="26974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0F172A"/>
                </a:solidFill>
                <a:latin typeface="Calibri"/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1387" y="31546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Laravel 11 · PHP 8.2 · Eloquent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64627.5" y="2903220.0"/>
            <a:ext cx="320040.0" cy="0.0"/>
          </a:xfrm>
          <a:prstGeom prst="line">
            <a:avLst/>
          </a:prstGeom>
          <a:ln w="15875">
            <a:solidFill>
              <a:srgbClr val="94A3B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30387" y="2194560"/>
            <a:ext cx="33375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0387" y="2194560"/>
            <a:ext cx="333756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4707" y="242316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TIER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707" y="26974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0F172A"/>
                </a:solidFill>
                <a:latin typeface="Calibri"/>
              </a:rP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4707" y="31546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MySQL 8 · Symfony Mailer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3747" y="40050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0907" y="388620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Browser-rendered views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3747" y="43708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0907" y="42519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Light &amp; dark theme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3747" y="47365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907" y="46177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Responsive layouts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7067" y="40050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64227" y="388620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Controllers &amp; middleware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27067" y="43708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4227" y="42519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Mailables &amp; console cmds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27067" y="47365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64227" y="46177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Audit logging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0387" y="40050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7547" y="388620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Relational storage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0387" y="43708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7547" y="42519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SMTP delivery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0387" y="47365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67547" y="46177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Cron scheduler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747" y="5486400"/>
            <a:ext cx="10744200" cy="777240"/>
          </a:xfrm>
          <a:prstGeom prst="roundRect">
            <a:avLst>
              <a:gd name="adj" fmla="val 5000"/>
            </a:avLst>
          </a:prstGeom>
          <a:gradFill flip="none" rotWithShape="1">
            <a:gsLst>
              <a:gs pos="0">
                <a:srgbClr val="0F172A"/>
              </a:gs>
              <a:gs pos="100000">
                <a:srgbClr val="1F2D3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8067" y="55778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DBEAFE"/>
                </a:solidFill>
                <a:latin typeface="Calibri"/>
              </a:rPr>
              <a:t>BACKGROUND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8067" y="5852160"/>
            <a:ext cx="3398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Scheduler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8067" y="6035040"/>
            <a:ext cx="3398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app:check-expirations · 09:00 daily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6587" y="5852160"/>
            <a:ext cx="3398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SMTP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96587" y="6035040"/>
            <a:ext cx="3398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Symfony Mailer · digest emails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95107" y="5852160"/>
            <a:ext cx="3398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Activity Log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95107" y="6035040"/>
            <a:ext cx="3398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Per-user audit trail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SECURITY &amp; SMART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 spc="-15">
                <a:solidFill>
                  <a:srgbClr val="0F172A"/>
                </a:solidFill>
                <a:latin typeface="Calibri"/>
              </a:rPr>
              <a:t>Designed with governance in mind.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11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RBAC enforced server-side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Per-module × per-action permissions; admin/user/viewer roles enforced by middleware on every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19456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60" y="2468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4F46E5"/>
                </a:solidFill>
                <a:latin typeface="Calibri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1089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Encrypted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74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PC Master passwords and SMTP credentials encrypted at rest with Laravel Crypt (AES-256-CBC).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9456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2468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468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  <a:latin typeface="Calibri"/>
              </a:rPr>
              <a:t>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1089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Full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74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Every create/update/delete logged with user, IP, user-agent, and field-level diff.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0624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480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8B5CF6"/>
                </a:solidFill>
                <a:latin typeface="Calibri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206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Smart read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Notifications use a signature scheme (date + urgency bucket) — reads auto-invalidate if urgency shifts.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420624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09160" y="4480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480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1206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Staggered digest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486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Reminders batched per (module × day-mark) instead of spamming per item. Operators choose 10/20/30 days.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20624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03920" y="4480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480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6B6D4"/>
                </a:solidFill>
                <a:latin typeface="Calibri"/>
              </a:rPr>
              <a:t>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1206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CSRF &amp; session hardening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486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Tokens on every form, session regenerated on login, hashed passwords (bcrypt).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LIVE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Three views every user touches daily.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12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2194560"/>
            <a:ext cx="36576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26567.5" y="2487168"/>
            <a:ext cx="3657600.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8007" y="2286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599" y="2286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7191" y="2286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3727" y="2606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Subscriptions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727" y="2880360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32 active · 5 expiring soon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3727.5" y="3429000"/>
            <a:ext cx="3383280.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3727" y="32004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50">
                <a:solidFill>
                  <a:srgbClr val="64748B"/>
                </a:solidFill>
                <a:latin typeface="Calibri"/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6203" y="32004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50">
                <a:solidFill>
                  <a:srgbClr val="64748B"/>
                </a:solidFill>
                <a:latin typeface="Calibri"/>
              </a:rPr>
              <a:t>Vendor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2023" y="32004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50">
                <a:solidFill>
                  <a:srgbClr val="64748B"/>
                </a:solidFill>
                <a:latin typeface="Calibri"/>
              </a:rPr>
              <a:t>Expires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1013" y="32004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5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727" y="3520440"/>
            <a:ext cx="1522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  <a:latin typeface="Calibri"/>
              </a:rPr>
              <a:t>Office 365 E3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6203" y="3520440"/>
            <a:ext cx="8458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Microsoft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2023" y="3520440"/>
            <a:ext cx="60899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May 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41013" y="3520440"/>
            <a:ext cx="365760" cy="146304"/>
          </a:xfrm>
          <a:prstGeom prst="roundRect">
            <a:avLst>
              <a:gd name="adj" fmla="val 4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1013" y="352044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  <a:latin typeface="Calibri"/>
              </a:rPr>
              <a:t>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727" y="3776472"/>
            <a:ext cx="1522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  <a:latin typeface="Calibri"/>
              </a:rPr>
              <a:t>Cloudflare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6203" y="3776472"/>
            <a:ext cx="8458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Cloudflare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2023" y="3776472"/>
            <a:ext cx="60899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May 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41013" y="3776472"/>
            <a:ext cx="365760" cy="146304"/>
          </a:xfrm>
          <a:prstGeom prst="roundRect">
            <a:avLst>
              <a:gd name="adj" fmla="val 4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1013" y="377647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  <a:latin typeface="Calibri"/>
              </a:rPr>
              <a:t>Pending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727" y="4032504"/>
            <a:ext cx="1522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  <a:latin typeface="Calibri"/>
              </a:rPr>
              <a:t>Adobe Creative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6203" y="4032504"/>
            <a:ext cx="8458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Adobe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2023" y="4032504"/>
            <a:ext cx="60899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May 31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41013" y="4032504"/>
            <a:ext cx="365760" cy="146304"/>
          </a:xfrm>
          <a:prstGeom prst="roundRect">
            <a:avLst>
              <a:gd name="adj" fmla="val 4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1013" y="4032504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  <a:latin typeface="Calibri"/>
              </a:rPr>
              <a:t>Pending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3727" y="4288536"/>
            <a:ext cx="1522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  <a:latin typeface="Calibri"/>
              </a:rPr>
              <a:t>AWS Reserved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86203" y="4288536"/>
            <a:ext cx="8458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Amazon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32023" y="4288536"/>
            <a:ext cx="60899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Jun 07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41013" y="4288536"/>
            <a:ext cx="365760" cy="146304"/>
          </a:xfrm>
          <a:prstGeom prst="roundRect">
            <a:avLst>
              <a:gd name="adj" fmla="val 4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41013" y="4288536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727" y="4544568"/>
            <a:ext cx="1522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  <a:latin typeface="Calibri"/>
              </a:rPr>
              <a:t>GitHub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6203" y="4544568"/>
            <a:ext cx="8458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GitHub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32023" y="4544568"/>
            <a:ext cx="60899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Jun 13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41013" y="4544568"/>
            <a:ext cx="365760" cy="146304"/>
          </a:xfrm>
          <a:prstGeom prst="roundRect">
            <a:avLst>
              <a:gd name="adj" fmla="val 4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41013" y="454456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727" y="4800600"/>
            <a:ext cx="1522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  <a:latin typeface="Calibri"/>
              </a:rPr>
              <a:t>Slack Pro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86203" y="4800600"/>
            <a:ext cx="8458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Slack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32023" y="4800600"/>
            <a:ext cx="60899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Jun 28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41013" y="4800600"/>
            <a:ext cx="365760" cy="146304"/>
          </a:xfrm>
          <a:prstGeom prst="roundRect">
            <a:avLst>
              <a:gd name="adj" fmla="val 4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41013" y="480060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6567" y="54132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Subscriptions index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567" y="5650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Searchable, filterable, with bulk actions and Renew shortcut.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67047" y="2194560"/>
            <a:ext cx="36576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4267047.5" y="2487168"/>
            <a:ext cx="3657600.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358487" y="2286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23079" y="2286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687671" y="2286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04207" y="2606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Notifications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04207" y="2880360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8 unread · 12 total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04207" y="3200400"/>
            <a:ext cx="777240" cy="237744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04207" y="320040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2563EB"/>
                </a:solidFill>
                <a:latin typeface="Calibri"/>
              </a:rPr>
              <a:t>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25415" y="3200400"/>
            <a:ext cx="228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563EB"/>
                </a:solidFill>
                <a:latin typeface="Calibri"/>
              </a:rPr>
              <a:t>12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254599" y="3200400"/>
            <a:ext cx="777240" cy="237744"/>
          </a:xfrm>
          <a:prstGeom prst="roundRect">
            <a:avLst>
              <a:gd name="adj" fmla="val 4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54599" y="320040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475569"/>
                </a:solidFill>
                <a:latin typeface="Calibri"/>
              </a:rPr>
              <a:t>Unread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75807" y="3200400"/>
            <a:ext cx="228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04991" y="3200400"/>
            <a:ext cx="777240" cy="237744"/>
          </a:xfrm>
          <a:prstGeom prst="roundRect">
            <a:avLst>
              <a:gd name="adj" fmla="val 4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04991" y="320040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475569"/>
                </a:solidFill>
                <a:latin typeface="Calibri"/>
              </a:rPr>
              <a:t>Read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26199" y="3200400"/>
            <a:ext cx="228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04207" y="3611880"/>
            <a:ext cx="36576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13935" y="370332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13935" y="370332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Calibri"/>
              </a:rPr>
              <a:t>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61407" y="36484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  <a:latin typeface="Calibri"/>
              </a:rPr>
              <a:t>Renewal Due: Office 365 E3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61407" y="383133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3 days left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04207" y="4114800"/>
            <a:ext cx="36576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513935" y="420624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13935" y="420624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61407" y="415137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  <a:latin typeface="Calibri"/>
              </a:rPr>
              <a:t>Renewal Due: Cloudflare Pro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61407" y="433425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8 days left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13935" y="470916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13935" y="47091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alibri"/>
              </a:rPr>
              <a:t>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61407" y="465429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  <a:latin typeface="Calibri"/>
              </a:rPr>
              <a:t>License Expiry: Adobe CC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61407" y="483717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14 days left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13935" y="5212080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13935" y="52120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61407" y="515721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  <a:latin typeface="Calibri"/>
              </a:rPr>
              <a:t>Renewal Due: AWS Reserved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61407" y="534009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21 days left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67047" y="54132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Notifications inbox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67047" y="5650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Per-user read state with signature-based invalidation.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107527" y="2194560"/>
            <a:ext cx="36576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8107527.5" y="2487168"/>
            <a:ext cx="3657600.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8198967" y="2286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363559" y="2286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528151" y="22860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44687" y="2606040"/>
            <a:ext cx="1353312" cy="2651760"/>
          </a:xfrm>
          <a:prstGeom prst="rect">
            <a:avLst/>
          </a:prstGeom>
          <a:gradFill flip="none" rotWithShape="1">
            <a:gsLst>
              <a:gs pos="0">
                <a:srgbClr val="1D4ED8"/>
              </a:gs>
              <a:gs pos="100000">
                <a:srgbClr val="4F46E5"/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409279" y="2807208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09279" y="2807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Calibri"/>
              </a:rPr>
              <a:t>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09279" y="3383280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Welcome to ITAMS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09279" y="3657600"/>
            <a:ext cx="10789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Track every IT asset, never miss a renewal.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26599" y="3063240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Sign in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26599" y="3383280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Enter your credentials to continue.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26599" y="3886200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200">
                <a:solidFill>
                  <a:srgbClr val="64748B"/>
                </a:solidFill>
                <a:latin typeface="Calibri"/>
              </a:rPr>
              <a:t>EMAIL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826599" y="4069080"/>
            <a:ext cx="1664208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936327" y="406908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you@company.com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26599" y="4480559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200">
                <a:solidFill>
                  <a:srgbClr val="64748B"/>
                </a:solidFill>
                <a:latin typeface="Calibri"/>
              </a:rPr>
              <a:t>PASSWORD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826599" y="4663440"/>
            <a:ext cx="1664208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936327" y="4663440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••••••••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26599" y="5120640"/>
            <a:ext cx="1664208" cy="292608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826599" y="5120640"/>
            <a:ext cx="16642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Sign in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07527" y="54132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Login screen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07527" y="5650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Calibri"/>
              </a:rPr>
              <a:t>Modern split layout with light/dark mode toggle.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BENEFITS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What changes when ITAMS rolls out.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13 /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237744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56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887" y="28803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 spc="-25">
                <a:solidFill>
                  <a:srgbClr val="2563EB"/>
                </a:solidFill>
                <a:latin typeface="Calibri"/>
              </a:rPr>
              <a:t>30%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0887.5" y="4206240"/>
            <a:ext cx="45720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0887" y="43434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lower IT 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475488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Eliminates duplicate purchases &amp; unused subs.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6927" y="237744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0692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1247" y="28803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 spc="-25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81247.5" y="4206240"/>
            <a:ext cx="457200.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81247" y="43434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missed renewals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247" y="475488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Automatic reminders for every tracked asset.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237744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28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4F46E5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607" y="28803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 spc="-25">
                <a:solidFill>
                  <a:srgbClr val="4F46E5"/>
                </a:solidFill>
                <a:latin typeface="Calibri"/>
              </a:rPr>
              <a:t>100%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61607.5" y="4206240"/>
            <a:ext cx="457200.0" cy="0"/>
          </a:xfrm>
          <a:prstGeom prst="line">
            <a:avLst/>
          </a:prstGeom>
          <a:ln w="190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61607" y="43434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audit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475488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Every change logged with user, time and diff.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647" y="237744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6764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F59E0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1967" y="28803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 spc="-25">
                <a:solidFill>
                  <a:srgbClr val="F59E0B"/>
                </a:solidFill>
                <a:latin typeface="Calibri"/>
              </a:rPr>
              <a:t>5×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41967.5" y="4206240"/>
            <a:ext cx="457200.0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341967" y="434340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faster onboarding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1967" y="475488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Bulk Excel import replaces manual entry.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217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2563EB"/>
                </a:solidFill>
                <a:latin typeface="Calibri"/>
              </a:rP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0F172A"/>
                </a:solidFill>
                <a:latin typeface="Calibri"/>
              </a:rPr>
              <a:t>Where we're going next.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446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150">
                <a:solidFill>
                  <a:srgbClr val="94A3B8"/>
                </a:solidFill>
                <a:latin typeface="Calibri"/>
              </a:rPr>
              <a:t>14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" y="3090672"/>
            <a:ext cx="10972800" cy="36576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3827" y="2468880"/>
            <a:ext cx="822960" cy="38404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63827" y="246888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83867" y="301752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20443" y="30540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567" y="3429000"/>
            <a:ext cx="26974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167" y="37490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-10">
                <a:solidFill>
                  <a:srgbClr val="0F172A"/>
                </a:solidFill>
                <a:latin typeface="Calibri"/>
              </a:rPr>
              <a:t>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167" y="42976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Native iOS / Android for on-the-go asset check-in &amp; QR scanning.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4187" y="2468880"/>
            <a:ext cx="822960" cy="384048"/>
          </a:xfrm>
          <a:prstGeom prst="roundRect">
            <a:avLst>
              <a:gd name="adj" fmla="val 4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4187" y="246888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64227" y="301752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00803" y="30540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06927" y="3429000"/>
            <a:ext cx="26974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5527" y="37490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-10">
                <a:solidFill>
                  <a:srgbClr val="0F172A"/>
                </a:solidFill>
                <a:latin typeface="Calibri"/>
              </a:rPr>
              <a:t>Integrations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5527" y="42976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Slack, Microsoft Teams, and Jira Service Desk webhooks.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24547" y="2468880"/>
            <a:ext cx="822960" cy="384048"/>
          </a:xfrm>
          <a:prstGeom prst="roundRect">
            <a:avLst>
              <a:gd name="adj" fmla="val 4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547" y="246888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44587" y="301752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81163" y="30540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7287" y="3429000"/>
            <a:ext cx="26974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5887" y="37490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-10">
                <a:solidFill>
                  <a:srgbClr val="0F172A"/>
                </a:solidFill>
                <a:latin typeface="Calibri"/>
              </a:rPr>
              <a:t>AI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887" y="42976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Forecast renewal costs and recommend subscription consolidation.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04907" y="2468880"/>
            <a:ext cx="822960" cy="384048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04907" y="246888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5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24947" y="301752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361523" y="30540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67647" y="3429000"/>
            <a:ext cx="26974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6247" y="37490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 spc="-10">
                <a:solidFill>
                  <a:srgbClr val="0F172A"/>
                </a:solidFill>
                <a:latin typeface="Calibri"/>
              </a:rPr>
              <a:t>Multi-tenant SaaS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6247" y="42976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Calibri"/>
              </a:rPr>
              <a:t>Organization isolation, SSO/SAML, per-tenant billing.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1D4ED8"/>
              </a:gs>
              <a:gs pos="100000">
                <a:srgbClr val="4F46E5"/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495" y="-914400"/>
            <a:ext cx="9144000" cy="9144000"/>
          </a:xfrm>
          <a:prstGeom prst="rect">
            <a:avLst/>
          </a:prstGeom>
          <a:gradFill flip="none" rotWithShape="1">
            <a:gsLst>
              <a:gs pos="0">
                <a:srgbClr val="2563EB">
                  <a:alpha val="25000"/>
                </a:srgbClr>
              </a:gs>
              <a:gs pos="100000">
                <a:srgbClr val="4F46E5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400">
                <a:solidFill>
                  <a:srgbClr val="FFFFFF"/>
                </a:solidFill>
                <a:latin typeface="Calibri"/>
              </a:rP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1" i="0" spc="-3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0047" y="4617720"/>
            <a:ext cx="1371600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8006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5532120"/>
            <a:ext cx="6400800" cy="9144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5447" y="57150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FFFFFF"/>
                </a:solidFill>
                <a:latin typeface="Calibri"/>
              </a:rPr>
              <a:t>TEAM ITAMS  ·  IT ASSET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5447" y="6035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[ contact email ]   ·   [ repo link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