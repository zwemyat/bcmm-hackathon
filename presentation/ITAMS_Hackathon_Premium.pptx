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33695" y="-5486400"/>
            <a:ext cx="11887200" cy="11887200"/>
          </a:xfrm>
          <a:prstGeom prst="ellipse">
            <a:avLst/>
          </a:prstGeom>
          <a:gradFill flip="none" rotWithShape="1">
            <a:gsLst>
              <a:gs pos="0">
                <a:srgbClr val="60A5FA">
                  <a:alpha val="22000"/>
                </a:srgbClr>
              </a:gs>
              <a:gs pos="100000">
                <a:srgbClr val="60A5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76895" y="-1371600"/>
            <a:ext cx="9144000" cy="9144000"/>
          </a:xfrm>
          <a:prstGeom prst="ellipse">
            <a:avLst/>
          </a:prstGeom>
          <a:gradFill flip="none" rotWithShape="1">
            <a:gsLst>
              <a:gs pos="0">
                <a:srgbClr val="A78BFA">
                  <a:alpha val="1600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6B7290"/>
                </a:solidFill>
                <a:latin typeface="Calibri"/>
              </a:rPr>
              <a:t>hackathon 2026 · it infrastructure track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05840"/>
            <a:ext cx="457200" cy="45720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A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60A5FA"/>
                </a:solidFill>
                <a:latin typeface="Calibri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07899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150">
                <a:solidFill>
                  <a:srgbClr val="FAFAFA"/>
                </a:solidFill>
                <a:latin typeface="Calibri"/>
              </a:rPr>
              <a:t>ITAMS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 spc="-25">
                <a:solidFill>
                  <a:srgbClr val="FAFAFA"/>
                </a:solidFill>
                <a:latin typeface="Calibri"/>
              </a:rPr>
              <a:t>Manage every</a:t>
            </a:r>
          </a:p>
          <a:p>
            <a:pPr algn="l"/>
            <a:r>
              <a:rPr sz="7200" b="1" i="0" spc="-25">
                <a:solidFill>
                  <a:srgbClr val="FAFAFA"/>
                </a:solidFill>
                <a:latin typeface="Calibri"/>
              </a:rPr>
              <a:t>IT asset, beautifully.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212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A0A4B8"/>
                </a:solidFill>
                <a:latin typeface="Calibri"/>
              </a:rPr>
              <a:t>An enterprise IT asset management platform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532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A0A4B8"/>
                </a:solidFill>
                <a:latin typeface="Calibri"/>
              </a:rPr>
              <a:t>track devices, licenses &amp; subscriptions, never miss a renewal.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6080760"/>
            <a:ext cx="1143000" cy="0"/>
          </a:xfrm>
          <a:prstGeom prst="line">
            <a:avLst/>
          </a:prstGeom>
          <a:ln w="1905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62636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AFAFA"/>
                </a:solidFill>
                <a:latin typeface="Calibri"/>
              </a:rPr>
              <a:t>Team ITAMS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695" y="6263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A0A4B8"/>
                </a:solidFill>
                <a:latin typeface="Calibri"/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0" y="2743200"/>
            <a:ext cx="10058400" cy="10058400"/>
          </a:xfrm>
          <a:prstGeom prst="ellipse">
            <a:avLst/>
          </a:prstGeom>
          <a:gradFill flip="none" rotWithShape="1">
            <a:gsLst>
              <a:gs pos="0">
                <a:srgbClr val="A78BFA">
                  <a:alpha val="1200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A0A4B8"/>
                </a:solidFill>
                <a:latin typeface="Calibri"/>
              </a:rPr>
              <a:t>ITAMS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50292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4114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200">
                <a:solidFill>
                  <a:srgbClr val="A0A4B8"/>
                </a:solidFill>
                <a:latin typeface="Calibri"/>
              </a:rPr>
              <a:t>02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78992"/>
            <a:ext cx="45720" cy="4572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0A5FA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68580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 spc="-25">
                <a:solidFill>
                  <a:srgbClr val="FAFAFA"/>
                </a:solidFill>
                <a:latin typeface="Calibri"/>
              </a:rPr>
              <a:t>IT teams lose</a:t>
            </a:r>
          </a:p>
          <a:p>
            <a:pPr algn="l"/>
            <a:r>
              <a:rPr sz="4400" b="1" i="0" spc="-25">
                <a:solidFill>
                  <a:srgbClr val="FAFAFA"/>
                </a:solidFill>
                <a:latin typeface="Calibri"/>
              </a:rPr>
              <a:t>visibility and money</a:t>
            </a:r>
          </a:p>
          <a:p>
            <a:pPr algn="l"/>
            <a:r>
              <a:rPr sz="4400" b="1" i="0" spc="-25">
                <a:solidFill>
                  <a:srgbClr val="FAFAFA"/>
                </a:solidFill>
                <a:latin typeface="Calibri"/>
              </a:rPr>
              <a:t>in spreadsheets.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3716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60A5FA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35331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Calibri"/>
              </a:rPr>
              <a:t>Manual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664208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0A4B8"/>
                </a:solidFill>
                <a:latin typeface="Calibri"/>
              </a:rPr>
              <a:t>Devices, licenses &amp; subscriptions scattered across disconnected files.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3840" y="2423160"/>
            <a:ext cx="3840480" cy="0"/>
          </a:xfrm>
          <a:prstGeom prst="line">
            <a:avLst/>
          </a:prstGeom>
          <a:ln w="6350">
            <a:solidFill>
              <a:srgbClr val="1F25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863840" y="25603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60A5FA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54203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Calibri"/>
              </a:rPr>
              <a:t>Missed renewals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852928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0A4B8"/>
                </a:solidFill>
                <a:latin typeface="Calibri"/>
              </a:rPr>
              <a:t>Contracts expire or auto-renew without warning, causing downtime or waste.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63840" y="3611880"/>
            <a:ext cx="3840480" cy="0"/>
          </a:xfrm>
          <a:prstGeom prst="line">
            <a:avLst/>
          </a:prstGeom>
          <a:ln w="6350">
            <a:solidFill>
              <a:srgbClr val="1F25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863840" y="37490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60A5FA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73075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Calibri"/>
              </a:rPr>
              <a:t>No 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041648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0A4B8"/>
                </a:solidFill>
                <a:latin typeface="Calibri"/>
              </a:rPr>
              <a:t>No record of who changed what, when — failing compliance reviews.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63840" y="4800600"/>
            <a:ext cx="3840480" cy="0"/>
          </a:xfrm>
          <a:prstGeom prst="line">
            <a:avLst/>
          </a:prstGeom>
          <a:ln w="6350">
            <a:solidFill>
              <a:srgbClr val="1F25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863840" y="49377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60A5FA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91947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Calibri"/>
              </a:rPr>
              <a:t>Hidden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230368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0A4B8"/>
                </a:solidFill>
                <a:latin typeface="Calibri"/>
              </a:rPr>
              <a:t>Duplicate purchases and unused subscriptions inflate IT spend 20–30%.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4095" y="-6858000"/>
            <a:ext cx="10058400" cy="10058400"/>
          </a:xfrm>
          <a:prstGeom prst="ellipse">
            <a:avLst/>
          </a:prstGeom>
          <a:gradFill flip="none" rotWithShape="1">
            <a:gsLst>
              <a:gs pos="0">
                <a:srgbClr val="60A5FA">
                  <a:alpha val="14000"/>
                </a:srgbClr>
              </a:gs>
              <a:gs pos="100000">
                <a:srgbClr val="60A5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A0A4B8"/>
                </a:solidFill>
                <a:latin typeface="Calibri"/>
              </a:rPr>
              <a:t>ITAMS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50292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4114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200">
                <a:solidFill>
                  <a:srgbClr val="A0A4B8"/>
                </a:solidFill>
                <a:latin typeface="Calibri"/>
              </a:rPr>
              <a:t>03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78992"/>
            <a:ext cx="45720" cy="4572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0A5FA"/>
                </a:solidFill>
                <a:latin typeface="Calibri"/>
              </a:rP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64008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 spc="-25">
                <a:solidFill>
                  <a:srgbClr val="FAFAFA"/>
                </a:solidFill>
                <a:latin typeface="Calibri"/>
              </a:rPr>
              <a:t>A single platform</a:t>
            </a:r>
          </a:p>
          <a:p>
            <a:pPr algn="l"/>
            <a:r>
              <a:rPr sz="4200" b="1" i="0" spc="-25">
                <a:solidFill>
                  <a:srgbClr val="FAFAFA"/>
                </a:solidFill>
                <a:latin typeface="Calibri"/>
              </a:rPr>
              <a:t>for the entire</a:t>
            </a:r>
          </a:p>
          <a:p>
            <a:pPr algn="l"/>
            <a:r>
              <a:rPr sz="4200" b="1" i="0" spc="-25">
                <a:solidFill>
                  <a:srgbClr val="FAFAFA"/>
                </a:solidFill>
                <a:latin typeface="Calibri"/>
              </a:rPr>
              <a:t>asset lifecycle.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93776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0A4B8"/>
                </a:solidFill>
                <a:latin typeface="Calibri"/>
              </a:rPr>
              <a:t>ITAMS unifies hardware, devices, licenses, and</a:t>
            </a:r>
          </a:p>
          <a:p>
            <a:pPr algn="l"/>
            <a:r>
              <a:rPr sz="1300" b="0" i="0">
                <a:solidFill>
                  <a:srgbClr val="A0A4B8"/>
                </a:solidFill>
                <a:latin typeface="Calibri"/>
              </a:rPr>
              <a:t>subscriptions — with automated renewal reminders,</a:t>
            </a:r>
          </a:p>
          <a:p>
            <a:pPr algn="l"/>
            <a:r>
              <a:rPr sz="1300" b="0" i="0">
                <a:solidFill>
                  <a:srgbClr val="A0A4B8"/>
                </a:solidFill>
                <a:latin typeface="Calibri"/>
              </a:rPr>
              <a:t>role-based access, and a full audit log.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63840" y="1417320"/>
            <a:ext cx="36576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63840" y="160020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 spc="-15">
                <a:solidFill>
                  <a:srgbClr val="FAFAFA"/>
                </a:solidFill>
                <a:latin typeface="Calibri"/>
              </a:rPr>
              <a:t>Unify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19456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0A4B8"/>
                </a:solidFill>
                <a:latin typeface="Calibri"/>
              </a:rPr>
              <a:t>One source of truth for every IT asset.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63840" y="2834640"/>
            <a:ext cx="36576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863840" y="30175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 spc="-15">
                <a:solidFill>
                  <a:srgbClr val="FAFAFA"/>
                </a:solidFill>
                <a:latin typeface="Calibri"/>
              </a:rPr>
              <a:t>Automate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61188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0A4B8"/>
                </a:solidFill>
                <a:latin typeface="Calibri"/>
              </a:rPr>
              <a:t>Email &amp; in-app reminders fire before things expire.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63840" y="4251960"/>
            <a:ext cx="36576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863840" y="443484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 spc="-15">
                <a:solidFill>
                  <a:srgbClr val="FAFAFA"/>
                </a:solidFill>
                <a:latin typeface="Calibri"/>
              </a:rPr>
              <a:t>Govern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2920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0A4B8"/>
                </a:solidFill>
                <a:latin typeface="Calibri"/>
              </a:rPr>
              <a:t>Role-based access with full activity history.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4095" y="-6858000"/>
            <a:ext cx="10058400" cy="10058400"/>
          </a:xfrm>
          <a:prstGeom prst="ellipse">
            <a:avLst/>
          </a:prstGeom>
          <a:gradFill flip="none" rotWithShape="1">
            <a:gsLst>
              <a:gs pos="0">
                <a:srgbClr val="60A5FA">
                  <a:alpha val="14000"/>
                </a:srgbClr>
              </a:gs>
              <a:gs pos="100000">
                <a:srgbClr val="60A5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A0A4B8"/>
                </a:solidFill>
                <a:latin typeface="Calibri"/>
              </a:rPr>
              <a:t>ITAMS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50292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4114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200">
                <a:solidFill>
                  <a:srgbClr val="A0A4B8"/>
                </a:solidFill>
                <a:latin typeface="Calibri"/>
              </a:rPr>
              <a:t>04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987552"/>
            <a:ext cx="45720" cy="4572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8686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0A5FA"/>
                </a:solidFill>
                <a:latin typeface="Calibri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 spc="-25">
                <a:solidFill>
                  <a:srgbClr val="FAFAFA"/>
                </a:solidFill>
                <a:latin typeface="Calibri"/>
              </a:rPr>
              <a:t>System overview.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187" y="2743200"/>
            <a:ext cx="3246120" cy="1371600"/>
          </a:xfrm>
          <a:prstGeom prst="roundRect">
            <a:avLst>
              <a:gd name="adj" fmla="val 5000"/>
            </a:avLst>
          </a:prstGeom>
          <a:solidFill>
            <a:srgbClr val="131829"/>
          </a:solidFill>
          <a:ln w="9525">
            <a:solidFill>
              <a:srgbClr val="2A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5187" y="2743200"/>
            <a:ext cx="3246120" cy="36576"/>
          </a:xfrm>
          <a:prstGeom prst="rect">
            <a:avLst/>
          </a:prstGeom>
          <a:gradFill flip="none" rotWithShape="1">
            <a:gsLst>
              <a:gs pos="0">
                <a:srgbClr val="60A5FA"/>
              </a:gs>
              <a:gs pos="100000">
                <a:srgbClr val="A78BF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0947" y="2971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60A5FA"/>
                </a:solidFill>
                <a:latin typeface="Calibri"/>
              </a:rPr>
              <a:t>tier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0947" y="324612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-15">
                <a:solidFill>
                  <a:srgbClr val="FAFAFA"/>
                </a:solidFill>
                <a:latin typeface="Calibri"/>
              </a:rPr>
              <a:t>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0947" y="370332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0A4B8"/>
                </a:solidFill>
                <a:latin typeface="Calibri"/>
              </a:rPr>
              <a:t>Browser · Blade · Bootstrap 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07027.5" y="3429000.0"/>
            <a:ext cx="320040.0" cy="0.0"/>
          </a:xfrm>
          <a:prstGeom prst="line">
            <a:avLst/>
          </a:prstGeom>
          <a:ln w="12700">
            <a:solidFill>
              <a:srgbClr val="6B7290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72787" y="2743200"/>
            <a:ext cx="3246120" cy="1371600"/>
          </a:xfrm>
          <a:prstGeom prst="roundRect">
            <a:avLst>
              <a:gd name="adj" fmla="val 5000"/>
            </a:avLst>
          </a:prstGeom>
          <a:solidFill>
            <a:srgbClr val="131829"/>
          </a:solidFill>
          <a:ln w="9525">
            <a:solidFill>
              <a:srgbClr val="2A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72787" y="2743200"/>
            <a:ext cx="3246120" cy="36576"/>
          </a:xfrm>
          <a:prstGeom prst="rect">
            <a:avLst/>
          </a:prstGeom>
          <a:gradFill flip="none" rotWithShape="1">
            <a:gsLst>
              <a:gs pos="0">
                <a:srgbClr val="60A5FA"/>
              </a:gs>
              <a:gs pos="100000">
                <a:srgbClr val="A78BF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38547" y="2971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60A5FA"/>
                </a:solidFill>
                <a:latin typeface="Calibri"/>
              </a:rPr>
              <a:t>tier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8547" y="324612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-15">
                <a:solidFill>
                  <a:srgbClr val="FAFAFA"/>
                </a:solidFill>
                <a:latin typeface="Calibri"/>
              </a:rPr>
              <a:t>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8547" y="370332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0A4B8"/>
                </a:solidFill>
                <a:latin typeface="Calibri"/>
              </a:rPr>
              <a:t>Laravel 11 · Controllers · Mailables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64627.5" y="3429000.0"/>
            <a:ext cx="320040.0" cy="0.0"/>
          </a:xfrm>
          <a:prstGeom prst="line">
            <a:avLst/>
          </a:prstGeom>
          <a:ln w="12700">
            <a:solidFill>
              <a:srgbClr val="6B7290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30387" y="2743200"/>
            <a:ext cx="3246120" cy="1371600"/>
          </a:xfrm>
          <a:prstGeom prst="roundRect">
            <a:avLst>
              <a:gd name="adj" fmla="val 5000"/>
            </a:avLst>
          </a:prstGeom>
          <a:solidFill>
            <a:srgbClr val="131829"/>
          </a:solidFill>
          <a:ln w="9525">
            <a:solidFill>
              <a:srgbClr val="2A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0387" y="2743200"/>
            <a:ext cx="3246120" cy="36576"/>
          </a:xfrm>
          <a:prstGeom prst="rect">
            <a:avLst/>
          </a:prstGeom>
          <a:gradFill flip="none" rotWithShape="1">
            <a:gsLst>
              <a:gs pos="0">
                <a:srgbClr val="60A5FA"/>
              </a:gs>
              <a:gs pos="100000">
                <a:srgbClr val="A78BF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96147" y="2971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60A5FA"/>
                </a:solidFill>
                <a:latin typeface="Calibri"/>
              </a:rPr>
              <a:t>tier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6147" y="324612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-15">
                <a:solidFill>
                  <a:srgbClr val="FAFAFA"/>
                </a:solidFill>
                <a:latin typeface="Calibri"/>
              </a:rPr>
              <a:t>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96147" y="370332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0A4B8"/>
                </a:solidFill>
                <a:latin typeface="Calibri"/>
              </a:rPr>
              <a:t>MySQL 8 · Eloquent ORM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5187" y="4434840"/>
            <a:ext cx="10561320" cy="868680"/>
          </a:xfrm>
          <a:prstGeom prst="roundRect">
            <a:avLst>
              <a:gd name="adj" fmla="val 5000"/>
            </a:avLst>
          </a:prstGeom>
          <a:solidFill>
            <a:srgbClr val="131829"/>
          </a:solidFill>
          <a:ln w="6350">
            <a:solidFill>
              <a:srgbClr val="2A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0947" y="45720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60A5FA"/>
                </a:solidFill>
                <a:latin typeface="Calibri"/>
              </a:rPr>
              <a:t>background services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0947" y="4846320"/>
            <a:ext cx="327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AFAFA"/>
                </a:solidFill>
                <a:latin typeface="Calibri"/>
              </a:rPr>
              <a:t>Scheduler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0947" y="5074920"/>
            <a:ext cx="3276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B7290"/>
                </a:solidFill>
                <a:latin typeface="Calibri"/>
              </a:rPr>
              <a:t>app:check-expirations · daily 09:00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7547" y="4846320"/>
            <a:ext cx="327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AFAFA"/>
                </a:solidFill>
                <a:latin typeface="Calibri"/>
              </a:rPr>
              <a:t>SMTP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7547" y="5074920"/>
            <a:ext cx="3276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B7290"/>
                </a:solidFill>
                <a:latin typeface="Calibri"/>
              </a:rPr>
              <a:t>Renewal reminder emails to recipients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34147" y="4846320"/>
            <a:ext cx="327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AFAFA"/>
                </a:solidFill>
                <a:latin typeface="Calibri"/>
              </a:rPr>
              <a:t>Activity 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34147" y="5074920"/>
            <a:ext cx="3276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B7290"/>
                </a:solidFill>
                <a:latin typeface="Calibri"/>
              </a:rPr>
              <a:t>Per-user audit trail of every change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187" y="5669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6B7290"/>
                </a:solidFill>
                <a:latin typeface="Calibri"/>
              </a:rPr>
              <a:t>functional modules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5187" y="5989320"/>
            <a:ext cx="1229868" cy="384048"/>
          </a:xfrm>
          <a:prstGeom prst="roundRect">
            <a:avLst>
              <a:gd name="adj" fmla="val 50000"/>
            </a:avLst>
          </a:prstGeom>
          <a:solidFill>
            <a:srgbClr val="131829"/>
          </a:solidFill>
          <a:ln w="6350">
            <a:solidFill>
              <a:srgbClr val="2A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5187" y="5989320"/>
            <a:ext cx="12298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A0A4B8"/>
                </a:solidFill>
                <a:latin typeface="Calibri"/>
              </a:rPr>
              <a:t>PC Master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54783" y="5989320"/>
            <a:ext cx="1613916" cy="384048"/>
          </a:xfrm>
          <a:prstGeom prst="roundRect">
            <a:avLst>
              <a:gd name="adj" fmla="val 50000"/>
            </a:avLst>
          </a:prstGeom>
          <a:solidFill>
            <a:srgbClr val="131829"/>
          </a:solidFill>
          <a:ln w="6350">
            <a:solidFill>
              <a:srgbClr val="2A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54783" y="5989320"/>
            <a:ext cx="16139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A0A4B8"/>
                </a:solidFill>
                <a:latin typeface="Calibri"/>
              </a:rPr>
              <a:t>Device Master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78427" y="5989320"/>
            <a:ext cx="1613916" cy="384048"/>
          </a:xfrm>
          <a:prstGeom prst="roundRect">
            <a:avLst>
              <a:gd name="adj" fmla="val 50000"/>
            </a:avLst>
          </a:prstGeom>
          <a:solidFill>
            <a:srgbClr val="131829"/>
          </a:solidFill>
          <a:ln w="6350">
            <a:solidFill>
              <a:srgbClr val="2A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78427" y="5989320"/>
            <a:ext cx="16139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A0A4B8"/>
                </a:solidFill>
                <a:latin typeface="Calibri"/>
              </a:rPr>
              <a:t>Subscriptions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02071" y="598932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31829"/>
          </a:solidFill>
          <a:ln w="6350">
            <a:solidFill>
              <a:srgbClr val="2A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02071" y="59893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A0A4B8"/>
                </a:solidFill>
                <a:latin typeface="Calibri"/>
              </a:rPr>
              <a:t>Licenses &amp; Contracts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97799" y="5989320"/>
            <a:ext cx="1613916" cy="384048"/>
          </a:xfrm>
          <a:prstGeom prst="roundRect">
            <a:avLst>
              <a:gd name="adj" fmla="val 50000"/>
            </a:avLst>
          </a:prstGeom>
          <a:solidFill>
            <a:srgbClr val="131829"/>
          </a:solidFill>
          <a:ln w="6350">
            <a:solidFill>
              <a:srgbClr val="2A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97799" y="5989320"/>
            <a:ext cx="16139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A0A4B8"/>
                </a:solidFill>
                <a:latin typeface="Calibri"/>
              </a:rPr>
              <a:t>Notifications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721443" y="5989320"/>
            <a:ext cx="1805940" cy="384048"/>
          </a:xfrm>
          <a:prstGeom prst="roundRect">
            <a:avLst>
              <a:gd name="adj" fmla="val 50000"/>
            </a:avLst>
          </a:prstGeom>
          <a:solidFill>
            <a:srgbClr val="131829"/>
          </a:solidFill>
          <a:ln w="6350">
            <a:solidFill>
              <a:srgbClr val="2A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21443" y="5989320"/>
            <a:ext cx="18059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A0A4B8"/>
                </a:solidFill>
                <a:latin typeface="Calibri"/>
              </a:rPr>
              <a:t>User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4095" y="-6858000"/>
            <a:ext cx="10058400" cy="10058400"/>
          </a:xfrm>
          <a:prstGeom prst="ellipse">
            <a:avLst/>
          </a:prstGeom>
          <a:gradFill flip="none" rotWithShape="1">
            <a:gsLst>
              <a:gs pos="0">
                <a:srgbClr val="60A5FA">
                  <a:alpha val="14000"/>
                </a:srgbClr>
              </a:gs>
              <a:gs pos="100000">
                <a:srgbClr val="60A5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A0A4B8"/>
                </a:solidFill>
                <a:latin typeface="Calibri"/>
              </a:rPr>
              <a:t>ITAMS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50292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4114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200">
                <a:solidFill>
                  <a:srgbClr val="A0A4B8"/>
                </a:solidFill>
                <a:latin typeface="Calibri"/>
              </a:rPr>
              <a:t>05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987552"/>
            <a:ext cx="45720" cy="4572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8686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0A5FA"/>
                </a:solidFill>
                <a:latin typeface="Calibri"/>
              </a:rPr>
              <a:t>capabilities · 1 of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 spc="-25">
                <a:solidFill>
                  <a:srgbClr val="FAFAFA"/>
                </a:solidFill>
                <a:latin typeface="Calibri"/>
              </a:rPr>
              <a:t>Asset modules.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2560320"/>
            <a:ext cx="45720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27249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60A5FA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-10">
                <a:solidFill>
                  <a:srgbClr val="FAFAFA"/>
                </a:solidFill>
                <a:latin typeface="Calibri"/>
              </a:rPr>
              <a:t>PC Master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0A4B8"/>
                </a:solidFill>
                <a:latin typeface="Calibri"/>
              </a:rPr>
              <a:t>Track workstations: assignee, OS, specs, purchase date, warranty.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34840" y="2560320"/>
            <a:ext cx="45720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434840" y="27249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60A5FA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06324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-10">
                <a:solidFill>
                  <a:srgbClr val="FAFAFA"/>
                </a:solidFill>
                <a:latin typeface="Calibri"/>
              </a:rPr>
              <a:t>Device Master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52044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0A4B8"/>
                </a:solidFill>
                <a:latin typeface="Calibri"/>
              </a:rPr>
              <a:t>Network hardware inventory — routers, switches, servers, printers.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0" y="2560320"/>
            <a:ext cx="45720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0" y="27249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60A5FA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06324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-10">
                <a:solidFill>
                  <a:srgbClr val="FAFAFA"/>
                </a:solidFill>
                <a:latin typeface="Calibri"/>
              </a:rPr>
              <a:t>Subscriptions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52044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0A4B8"/>
                </a:solidFill>
                <a:latin typeface="Calibri"/>
              </a:rPr>
              <a:t>Recurring services with renewal cycles, vendor and cost history.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4709160"/>
            <a:ext cx="45720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48737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60A5FA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1208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-10">
                <a:solidFill>
                  <a:srgbClr val="FAFAFA"/>
                </a:solidFill>
                <a:latin typeface="Calibri"/>
              </a:rPr>
              <a:t>Licenses &amp; Contracts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66928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0A4B8"/>
                </a:solidFill>
                <a:latin typeface="Calibri"/>
              </a:rPr>
              <a:t>Software licenses and vendor contracts with expiry tracking.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434840" y="4709160"/>
            <a:ext cx="45720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434840" y="48737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60A5FA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521208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-10">
                <a:solidFill>
                  <a:srgbClr val="FAFAFA"/>
                </a:solidFill>
                <a:latin typeface="Calibri"/>
              </a:rPr>
              <a:t>Bulk import/export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566928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0A4B8"/>
                </a:solidFill>
                <a:latin typeface="Calibri"/>
              </a:rPr>
              <a:t>Excel import &amp; export per module, with downloadable templates.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29600" y="4709160"/>
            <a:ext cx="45720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29600" y="48737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60A5FA"/>
                </a:solidFill>
                <a:latin typeface="Calibr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21208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-10">
                <a:solidFill>
                  <a:srgbClr val="FAFAFA"/>
                </a:solidFill>
                <a:latin typeface="Calibri"/>
              </a:rPr>
              <a:t>Searchable everywhere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66928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0A4B8"/>
                </a:solidFill>
                <a:latin typeface="Calibri"/>
              </a:rPr>
              <a:t>Filter, search and bulk-delete across the whole asset estate.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0" y="2743200"/>
            <a:ext cx="10058400" cy="10058400"/>
          </a:xfrm>
          <a:prstGeom prst="ellipse">
            <a:avLst/>
          </a:prstGeom>
          <a:gradFill flip="none" rotWithShape="1">
            <a:gsLst>
              <a:gs pos="0">
                <a:srgbClr val="A78BFA">
                  <a:alpha val="1200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A0A4B8"/>
                </a:solidFill>
                <a:latin typeface="Calibri"/>
              </a:rPr>
              <a:t>ITAMS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50292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4114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200">
                <a:solidFill>
                  <a:srgbClr val="A0A4B8"/>
                </a:solidFill>
                <a:latin typeface="Calibri"/>
              </a:rPr>
              <a:t>06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987552"/>
            <a:ext cx="45720" cy="4572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8686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0A5FA"/>
                </a:solidFill>
                <a:latin typeface="Calibri"/>
              </a:rPr>
              <a:t>capabilities · 2 of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 spc="-25">
                <a:solidFill>
                  <a:srgbClr val="FAFAFA"/>
                </a:solidFill>
                <a:latin typeface="Calibri"/>
              </a:rPr>
              <a:t>Operations &amp; governance.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2560320"/>
            <a:ext cx="45720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27249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60A5FA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-10">
                <a:solidFill>
                  <a:srgbClr val="FAFAFA"/>
                </a:solidFill>
                <a:latin typeface="Calibri"/>
              </a:rPr>
              <a:t>Smart reminders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0A4B8"/>
                </a:solidFill>
                <a:latin typeface="Calibri"/>
              </a:rPr>
              <a:t>Daily scheduler sends staggered email digests at the day-marks you choose.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34840" y="2560320"/>
            <a:ext cx="45720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434840" y="27249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60A5FA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06324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-10">
                <a:solidFill>
                  <a:srgbClr val="FAFAFA"/>
                </a:solidFill>
                <a:latin typeface="Calibri"/>
              </a:rPr>
              <a:t>Per-user inbox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52044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0A4B8"/>
                </a:solidFill>
                <a:latin typeface="Calibri"/>
              </a:rPr>
              <a:t>Read state tracked individually; items re-surface when urgency shifts.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0" y="2560320"/>
            <a:ext cx="45720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0" y="27249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60A5FA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06324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-10">
                <a:solidFill>
                  <a:srgbClr val="FAFAFA"/>
                </a:solidFill>
                <a:latin typeface="Calibri"/>
              </a:rPr>
              <a:t>Role-based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52044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0A4B8"/>
                </a:solidFill>
                <a:latin typeface="Calibri"/>
              </a:rPr>
              <a:t>Admin / per-module view &amp; edit permissions enforced by middleware.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4709160"/>
            <a:ext cx="45720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48737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60A5FA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1208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-10">
                <a:solidFill>
                  <a:srgbClr val="FAFAFA"/>
                </a:solidFill>
                <a:latin typeface="Calibri"/>
              </a:rPr>
              <a:t>Audit trail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66928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0A4B8"/>
                </a:solidFill>
                <a:latin typeface="Calibri"/>
              </a:rPr>
              <a:t>Every create, update, delete logged with user, time and field diff.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434840" y="4709160"/>
            <a:ext cx="45720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434840" y="48737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60A5FA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521208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-10">
                <a:solidFill>
                  <a:srgbClr val="FAFAFA"/>
                </a:solidFill>
                <a:latin typeface="Calibri"/>
              </a:rPr>
              <a:t>Configurable mail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566928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0A4B8"/>
                </a:solidFill>
                <a:latin typeface="Calibri"/>
              </a:rPr>
              <a:t>Switch between .env SMTP and database settings without redeploying.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29600" y="4709160"/>
            <a:ext cx="45720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29600" y="48737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60A5FA"/>
                </a:solidFill>
                <a:latin typeface="Calibr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21208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-10">
                <a:solidFill>
                  <a:srgbClr val="FAFAFA"/>
                </a:solidFill>
                <a:latin typeface="Calibri"/>
              </a:rPr>
              <a:t>Live status badge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66928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0A4B8"/>
                </a:solidFill>
                <a:latin typeface="Calibri"/>
              </a:rPr>
              <a:t>Topbar bell counts overdue and due-soon items in real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4095" y="-6858000"/>
            <a:ext cx="10058400" cy="10058400"/>
          </a:xfrm>
          <a:prstGeom prst="ellipse">
            <a:avLst/>
          </a:prstGeom>
          <a:gradFill flip="none" rotWithShape="1">
            <a:gsLst>
              <a:gs pos="0">
                <a:srgbClr val="60A5FA">
                  <a:alpha val="14000"/>
                </a:srgbClr>
              </a:gs>
              <a:gs pos="100000">
                <a:srgbClr val="60A5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A0A4B8"/>
                </a:solidFill>
                <a:latin typeface="Calibri"/>
              </a:rPr>
              <a:t>ITAMS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50292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4114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200">
                <a:solidFill>
                  <a:srgbClr val="A0A4B8"/>
                </a:solidFill>
                <a:latin typeface="Calibri"/>
              </a:rPr>
              <a:t>07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987552"/>
            <a:ext cx="45720" cy="4572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8686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0A5FA"/>
                </a:solidFill>
                <a:latin typeface="Calibri"/>
              </a:rP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 spc="-25">
                <a:solidFill>
                  <a:srgbClr val="FAFAFA"/>
                </a:solidFill>
                <a:latin typeface="Calibri"/>
              </a:rPr>
              <a:t>Built with.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274320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FAFAFA"/>
                </a:solidFill>
                <a:latin typeface="Calibri"/>
              </a:rPr>
              <a:t>Frontend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9427.5" y="3154680"/>
            <a:ext cx="3429000.0" cy="0"/>
          </a:xfrm>
          <a:prstGeom prst="line">
            <a:avLst/>
          </a:prstGeom>
          <a:ln w="127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9427" y="347472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AFAFA"/>
                </a:solidFill>
                <a:latin typeface="Calibri"/>
              </a:rPr>
              <a:t>Bootstrap 5.3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427" y="3730752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90"/>
                </a:solidFill>
                <a:latin typeface="Calibri"/>
              </a:rPr>
              <a:t>UI &amp; responsive 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427" y="418795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AFAFA"/>
                </a:solidFill>
                <a:latin typeface="Calibri"/>
              </a:rPr>
              <a:t>Bootstrap Icons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427" y="4443984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90"/>
                </a:solidFill>
                <a:latin typeface="Calibri"/>
              </a:rPr>
              <a:t>Iconography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427" y="4901184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AFAFA"/>
                </a:solidFill>
                <a:latin typeface="Calibri"/>
              </a:rPr>
              <a:t>Inter font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427" y="5157216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90"/>
                </a:solidFill>
                <a:latin typeface="Calibri"/>
              </a:rPr>
              <a:t>Enterprise typeface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427" y="561441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AFAFA"/>
                </a:solidFill>
                <a:latin typeface="Calibri"/>
              </a:rPr>
              <a:t>Vanilla 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427" y="5870448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90"/>
                </a:solidFill>
                <a:latin typeface="Calibri"/>
              </a:rPr>
              <a:t>Lightweight interactivity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9907" y="274320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FAFAFA"/>
                </a:solidFill>
                <a:latin typeface="Calibri"/>
              </a:rPr>
              <a:t>Backend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89907.5" y="3154680"/>
            <a:ext cx="3429000.0" cy="0"/>
          </a:xfrm>
          <a:prstGeom prst="line">
            <a:avLst/>
          </a:prstGeom>
          <a:ln w="127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89907" y="347472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AFAFA"/>
                </a:solidFill>
                <a:latin typeface="Calibri"/>
              </a:rPr>
              <a:t>Laravel 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89907" y="3730752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90"/>
                </a:solidFill>
                <a:latin typeface="Calibri"/>
              </a:rPr>
              <a:t>MVC framework, Eloquent 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9907" y="418795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AFAFA"/>
                </a:solidFill>
                <a:latin typeface="Calibri"/>
              </a:rPr>
              <a:t>PHP 8.2+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89907" y="4443984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90"/>
                </a:solidFill>
                <a:latin typeface="Calibri"/>
              </a:rPr>
              <a:t>Typed properties, modern syntax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89907" y="4901184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AFAFA"/>
                </a:solidFill>
                <a:latin typeface="Calibri"/>
              </a:rPr>
              <a:t>Blade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89907" y="5157216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90"/>
                </a:solidFill>
                <a:latin typeface="Calibri"/>
              </a:rPr>
              <a:t>Server-rendered templating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89907" y="561441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AFAFA"/>
                </a:solidFill>
                <a:latin typeface="Calibri"/>
              </a:rPr>
              <a:t>Maatwebsite/Excel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89907" y="5870448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90"/>
                </a:solidFill>
                <a:latin typeface="Calibri"/>
              </a:rPr>
              <a:t>Import &amp; export to .xlsx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0387" y="274320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FAFAFA"/>
                </a:solidFill>
                <a:latin typeface="Calibri"/>
              </a:rPr>
              <a:t>Data &amp; Infra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130387.5" y="3154680"/>
            <a:ext cx="3429000.0" cy="0"/>
          </a:xfrm>
          <a:prstGeom prst="line">
            <a:avLst/>
          </a:prstGeom>
          <a:ln w="127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130387" y="347472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AFAFA"/>
                </a:solidFill>
                <a:latin typeface="Calibri"/>
              </a:rPr>
              <a:t>MySQL 8 / MariaDB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0387" y="3730752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90"/>
                </a:solidFill>
                <a:latin typeface="Calibri"/>
              </a:rPr>
              <a:t>Relational storage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0387" y="418795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AFAFA"/>
                </a:solidFill>
                <a:latin typeface="Calibri"/>
              </a:rPr>
              <a:t>Symfony Mailer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0387" y="4443984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90"/>
                </a:solidFill>
                <a:latin typeface="Calibri"/>
              </a:rPr>
              <a:t>SMTP delivery via Laravel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0387" y="4901184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AFAFA"/>
                </a:solidFill>
                <a:latin typeface="Calibri"/>
              </a:rPr>
              <a:t>XAMPP / Apache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0387" y="5157216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90"/>
                </a:solidFill>
                <a:latin typeface="Calibri"/>
              </a:rPr>
              <a:t>On-prem hosting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0387" y="561441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AFAFA"/>
                </a:solidFill>
                <a:latin typeface="Calibri"/>
              </a:rPr>
              <a:t>Cron scheduler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0387" y="5870448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90"/>
                </a:solidFill>
                <a:latin typeface="Calibri"/>
              </a:rPr>
              <a:t>Daily expiry checks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0" y="2743200"/>
            <a:ext cx="10058400" cy="10058400"/>
          </a:xfrm>
          <a:prstGeom prst="ellipse">
            <a:avLst/>
          </a:prstGeom>
          <a:gradFill flip="none" rotWithShape="1">
            <a:gsLst>
              <a:gs pos="0">
                <a:srgbClr val="A78BFA">
                  <a:alpha val="1200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A0A4B8"/>
                </a:solidFill>
                <a:latin typeface="Calibri"/>
              </a:rPr>
              <a:t>ITAMS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50292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4114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200">
                <a:solidFill>
                  <a:srgbClr val="A0A4B8"/>
                </a:solidFill>
                <a:latin typeface="Calibri"/>
              </a:rPr>
              <a:t>08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987552"/>
            <a:ext cx="45720" cy="4572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8686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0A5FA"/>
                </a:solidFill>
                <a:latin typeface="Calibri"/>
              </a:rPr>
              <a:t>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 spc="-25">
                <a:solidFill>
                  <a:srgbClr val="FAFAFA"/>
                </a:solidFill>
                <a:latin typeface="Calibri"/>
              </a:rPr>
              <a:t>How it works.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447" y="3689604"/>
            <a:ext cx="10972800" cy="27432"/>
          </a:xfrm>
          <a:prstGeom prst="rect">
            <a:avLst/>
          </a:prstGeom>
          <a:gradFill flip="none" rotWithShape="1">
            <a:gsLst>
              <a:gs pos="0">
                <a:srgbClr val="60A5FA"/>
              </a:gs>
              <a:gs pos="100000">
                <a:srgbClr val="A78BF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567" y="29260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 spc="-25">
                <a:solidFill>
                  <a:srgbClr val="FAFAFA"/>
                </a:solidFill>
                <a:latin typeface="Calibri"/>
              </a:rP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41551" y="362102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78127" y="36576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567" y="39319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-10">
                <a:solidFill>
                  <a:srgbClr val="FAFAFA"/>
                </a:solidFill>
                <a:latin typeface="Calibri"/>
              </a:rPr>
              <a:t>Onboard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3727" y="4389120"/>
            <a:ext cx="1920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A0A4B8"/>
                </a:solidFill>
                <a:latin typeface="Calibri"/>
              </a:rPr>
              <a:t>Admin adds assets or imports an .xlsx file.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2567" y="29260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 spc="-25">
                <a:solidFill>
                  <a:srgbClr val="FAFAFA"/>
                </a:solidFill>
                <a:latin typeface="Calibri"/>
              </a:rP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27551" y="362102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64127" y="36576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12567" y="39319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-10">
                <a:solidFill>
                  <a:srgbClr val="FAFAFA"/>
                </a:solidFill>
                <a:latin typeface="Calibri"/>
              </a:rPr>
              <a:t>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49727" y="4389120"/>
            <a:ext cx="1920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A0A4B8"/>
                </a:solidFill>
                <a:latin typeface="Calibri"/>
              </a:rPr>
              <a:t>Modules show real-time status across the estate.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98567" y="29260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 spc="-25">
                <a:solidFill>
                  <a:srgbClr val="FAFAFA"/>
                </a:solidFill>
                <a:latin typeface="Calibri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13551" y="362102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50127" y="36576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98567" y="39319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-10">
                <a:solidFill>
                  <a:srgbClr val="FAFAFA"/>
                </a:solidFill>
                <a:latin typeface="Calibri"/>
              </a:rPr>
              <a:t>Detect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5727" y="4389120"/>
            <a:ext cx="1920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A0A4B8"/>
                </a:solidFill>
                <a:latin typeface="Calibri"/>
              </a:rPr>
              <a:t>Daily scheduler scans for items in the renewal window.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4567" y="29260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 spc="-25">
                <a:solidFill>
                  <a:srgbClr val="FAFAFA"/>
                </a:solidFill>
                <a:latin typeface="Calibri"/>
              </a:rPr>
              <a:t>04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9551" y="362102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36127" y="36576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84567" y="39319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-10">
                <a:solidFill>
                  <a:srgbClr val="FAFAFA"/>
                </a:solidFill>
                <a:latin typeface="Calibri"/>
              </a:rPr>
              <a:t>Notify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1727" y="4389120"/>
            <a:ext cx="1920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A0A4B8"/>
                </a:solidFill>
                <a:latin typeface="Calibri"/>
              </a:rPr>
              <a:t>Email + in-app alerts fire to configured recipients.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70567" y="29260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 spc="-25">
                <a:solidFill>
                  <a:srgbClr val="FAFAFA"/>
                </a:solidFill>
                <a:latin typeface="Calibri"/>
              </a:rPr>
              <a:t>05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85551" y="362102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622127" y="36576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70567" y="39319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-10">
                <a:solidFill>
                  <a:srgbClr val="FAFAFA"/>
                </a:solidFill>
                <a:latin typeface="Calibri"/>
              </a:rPr>
              <a:t>Renew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07727" y="4389120"/>
            <a:ext cx="1920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A0A4B8"/>
                </a:solidFill>
                <a:latin typeface="Calibri"/>
              </a:rPr>
              <a:t>Owners renew or terminate; status auto-updates.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4095" y="-6858000"/>
            <a:ext cx="10058400" cy="10058400"/>
          </a:xfrm>
          <a:prstGeom prst="ellipse">
            <a:avLst/>
          </a:prstGeom>
          <a:gradFill flip="none" rotWithShape="1">
            <a:gsLst>
              <a:gs pos="0">
                <a:srgbClr val="60A5FA">
                  <a:alpha val="14000"/>
                </a:srgbClr>
              </a:gs>
              <a:gs pos="100000">
                <a:srgbClr val="60A5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A0A4B8"/>
                </a:solidFill>
                <a:latin typeface="Calibri"/>
              </a:rPr>
              <a:t>ITAMS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50292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4114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200">
                <a:solidFill>
                  <a:srgbClr val="A0A4B8"/>
                </a:solidFill>
                <a:latin typeface="Calibri"/>
              </a:rPr>
              <a:t>09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987552"/>
            <a:ext cx="45720" cy="4572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8686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0A5FA"/>
                </a:solidFill>
                <a:latin typeface="Calibri"/>
              </a:rPr>
              <a:t>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 spc="-25">
                <a:solidFill>
                  <a:srgbClr val="FAFAFA"/>
                </a:solidFill>
                <a:latin typeface="Calibri"/>
              </a:rPr>
              <a:t>Designed for daily 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5351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1635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AFAFA"/>
                </a:solidFill>
                <a:latin typeface="Calibri"/>
              </a:rPr>
              <a:t>Modern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0A4B8"/>
                </a:solidFill>
                <a:latin typeface="Calibri"/>
              </a:rPr>
              <a:t>Liquid-glass cards over soft gradient surfaces.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4787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1071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AFAFA"/>
                </a:solidFill>
                <a:latin typeface="Calibri"/>
              </a:rPr>
              <a:t>Light &amp; dark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03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0A4B8"/>
                </a:solidFill>
                <a:latin typeface="Calibri"/>
              </a:rPr>
              <a:t>Theme persists across sessions per user.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14223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00507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AFAFA"/>
                </a:solidFill>
                <a:latin typeface="Calibri"/>
              </a:rPr>
              <a:t>Modern typography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97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0A4B8"/>
                </a:solidFill>
                <a:latin typeface="Calibri"/>
              </a:rPr>
              <a:t>Inter, tight letter-spacing, optimized for scanning.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73659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5994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AFAFA"/>
                </a:solidFill>
                <a:latin typeface="Calibri"/>
              </a:rPr>
              <a:t>Accessibility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92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0A4B8"/>
                </a:solidFill>
                <a:latin typeface="Calibri"/>
              </a:rPr>
              <a:t>Keyboard nav, ARIA labels, visible focus rings.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3095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1937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AFAFA"/>
                </a:solidFill>
                <a:latin typeface="Calibri"/>
              </a:rPr>
              <a:t>Responsive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486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0A4B8"/>
                </a:solidFill>
                <a:latin typeface="Calibri"/>
              </a:rPr>
              <a:t>Sidebar rail on tablet; full reflow on mobile.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0" y="2697480"/>
            <a:ext cx="4754880" cy="3566160"/>
          </a:xfrm>
          <a:prstGeom prst="roundRect">
            <a:avLst>
              <a:gd name="adj" fmla="val 4000"/>
            </a:avLst>
          </a:prstGeom>
          <a:solidFill>
            <a:srgbClr val="131829"/>
          </a:solidFill>
          <a:ln w="9525">
            <a:solidFill>
              <a:srgbClr val="2A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6949440" y="3081528"/>
            <a:ext cx="4754880" cy="0"/>
          </a:xfrm>
          <a:prstGeom prst="line">
            <a:avLst/>
          </a:prstGeom>
          <a:ln w="6350">
            <a:solidFill>
              <a:srgbClr val="1F25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14032" y="2825496"/>
            <a:ext cx="128016" cy="128016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4B5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33488" y="2825496"/>
            <a:ext cx="128016" cy="128016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4B5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552944" y="2825496"/>
            <a:ext cx="128016" cy="128016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4B5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863840" y="2788920"/>
            <a:ext cx="3657600" cy="237744"/>
          </a:xfrm>
          <a:prstGeom prst="roundRect">
            <a:avLst>
              <a:gd name="adj" fmla="val 30000"/>
            </a:avLst>
          </a:prstGeom>
          <a:solidFill>
            <a:srgbClr val="1A2033"/>
          </a:solidFill>
          <a:ln w="6350">
            <a:solidFill>
              <a:srgbClr val="1F25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0" y="2788920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90"/>
                </a:solidFill>
                <a:latin typeface="Calibri"/>
              </a:rPr>
              <a:t>itams.local / dashboard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909560" y="3081528"/>
            <a:ext cx="0" cy="3182112"/>
          </a:xfrm>
          <a:prstGeom prst="line">
            <a:avLst/>
          </a:prstGeom>
          <a:ln w="6350">
            <a:solidFill>
              <a:srgbClr val="1F25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068312" y="3227832"/>
            <a:ext cx="274320" cy="274320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68312" y="32278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60A5FA"/>
                </a:solidFill>
                <a:latin typeface="Calibri"/>
              </a:rPr>
              <a:t>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34072" y="3264408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FAFAFA"/>
                </a:solidFill>
                <a:latin typeface="Calibri"/>
              </a:rPr>
              <a:t>ITAMS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40880" y="3621024"/>
            <a:ext cx="822960" cy="256032"/>
          </a:xfrm>
          <a:prstGeom prst="roundRect">
            <a:avLst>
              <a:gd name="adj" fmla="val 25000"/>
            </a:avLst>
          </a:prstGeom>
          <a:solidFill>
            <a:srgbClr val="1A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0" y="3657600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60A5FA"/>
                </a:solidFill>
                <a:latin typeface="Calibri"/>
              </a:rPr>
              <a:t>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95020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90"/>
                </a:solidFill>
                <a:latin typeface="Calibri"/>
              </a:rPr>
              <a:t>PC Master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242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90"/>
                </a:solidFill>
                <a:latin typeface="Calibri"/>
              </a:rPr>
              <a:t>Devices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535424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90"/>
                </a:solidFill>
                <a:latin typeface="Calibri"/>
              </a:rPr>
              <a:t>Subscriptions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482803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90"/>
                </a:solidFill>
                <a:latin typeface="Calibri"/>
              </a:rPr>
              <a:t>Licenses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5120640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90"/>
                </a:solidFill>
                <a:latin typeface="Calibri"/>
              </a:rPr>
              <a:t>Activity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92440" y="3337560"/>
            <a:ext cx="804672" cy="777240"/>
          </a:xfrm>
          <a:prstGeom prst="roundRect">
            <a:avLst>
              <a:gd name="adj" fmla="val 8000"/>
            </a:avLst>
          </a:prstGeom>
          <a:solidFill>
            <a:srgbClr val="1A2033"/>
          </a:solidFill>
          <a:ln w="6350">
            <a:solidFill>
              <a:srgbClr val="1F25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11312" y="3429000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AFAFA"/>
                </a:solidFill>
                <a:latin typeface="Calibri"/>
              </a:rPr>
              <a:t>128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1312" y="3794760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6B7290"/>
                </a:solidFill>
                <a:latin typeface="Calibri"/>
              </a:rPr>
              <a:t>PCS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70264" y="3337560"/>
            <a:ext cx="804672" cy="777240"/>
          </a:xfrm>
          <a:prstGeom prst="roundRect">
            <a:avLst>
              <a:gd name="adj" fmla="val 8000"/>
            </a:avLst>
          </a:prstGeom>
          <a:solidFill>
            <a:srgbClr val="1A2033"/>
          </a:solidFill>
          <a:ln w="6350">
            <a:solidFill>
              <a:srgbClr val="1F25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89136" y="3429000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AFAFA"/>
                </a:solidFill>
                <a:latin typeface="Calibri"/>
              </a:rPr>
              <a:t>64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89136" y="3794760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6B7290"/>
                </a:solidFill>
                <a:latin typeface="Calibri"/>
              </a:rPr>
              <a:t>DEVICES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848088" y="3337560"/>
            <a:ext cx="804672" cy="777240"/>
          </a:xfrm>
          <a:prstGeom prst="roundRect">
            <a:avLst>
              <a:gd name="adj" fmla="val 8000"/>
            </a:avLst>
          </a:prstGeom>
          <a:solidFill>
            <a:srgbClr val="1A2033"/>
          </a:solidFill>
          <a:ln w="6350">
            <a:solidFill>
              <a:srgbClr val="1F25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66960" y="3429000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AFAFA"/>
                </a:solidFill>
                <a:latin typeface="Calibri"/>
              </a:rPr>
              <a:t>32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60" y="3794760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6B7290"/>
                </a:solidFill>
                <a:latin typeface="Calibri"/>
              </a:rPr>
              <a:t>ACTIVE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725912" y="3337560"/>
            <a:ext cx="804672" cy="777240"/>
          </a:xfrm>
          <a:prstGeom prst="roundRect">
            <a:avLst>
              <a:gd name="adj" fmla="val 8000"/>
            </a:avLst>
          </a:prstGeom>
          <a:solidFill>
            <a:srgbClr val="1A2033"/>
          </a:solidFill>
          <a:ln w="6350">
            <a:solidFill>
              <a:srgbClr val="1F25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844784" y="3429000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AFAFA"/>
                </a:solidFill>
                <a:latin typeface="Calibri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44784" y="3794760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6B7290"/>
                </a:solidFill>
                <a:latin typeface="Calibri"/>
              </a:rPr>
              <a:t>EXPIRING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92440" y="4279392"/>
            <a:ext cx="3474720" cy="1783080"/>
          </a:xfrm>
          <a:prstGeom prst="roundRect">
            <a:avLst>
              <a:gd name="adj" fmla="val 5000"/>
            </a:avLst>
          </a:prstGeom>
          <a:solidFill>
            <a:srgbClr val="1A2033"/>
          </a:solidFill>
          <a:ln w="6350">
            <a:solidFill>
              <a:srgbClr val="1F25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275320" y="5380330"/>
            <a:ext cx="164592" cy="499262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A78BFA"/>
              </a:gs>
              <a:gs pos="100000">
                <a:srgbClr val="60A5F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643366" y="5095037"/>
            <a:ext cx="164592" cy="784555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A78BFA"/>
              </a:gs>
              <a:gs pos="100000">
                <a:srgbClr val="60A5F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011412" y="5225796"/>
            <a:ext cx="164592" cy="653796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A78BFA"/>
              </a:gs>
              <a:gs pos="100000">
                <a:srgbClr val="60A5F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379458" y="4869180"/>
            <a:ext cx="164592" cy="1010412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A78BFA"/>
              </a:gs>
              <a:gs pos="100000">
                <a:srgbClr val="60A5F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747504" y="5166360"/>
            <a:ext cx="164592" cy="713232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A78BFA"/>
              </a:gs>
              <a:gs pos="100000">
                <a:srgbClr val="60A5F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0115550" y="4750308"/>
            <a:ext cx="164592" cy="1129284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A78BFA"/>
              </a:gs>
              <a:gs pos="100000">
                <a:srgbClr val="60A5F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0483596" y="5047489"/>
            <a:ext cx="164592" cy="832103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A78BFA"/>
              </a:gs>
              <a:gs pos="100000">
                <a:srgbClr val="60A5F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0851642" y="5285232"/>
            <a:ext cx="164592" cy="59436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A78BFA"/>
              </a:gs>
              <a:gs pos="100000">
                <a:srgbClr val="60A5F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1219688" y="4952391"/>
            <a:ext cx="164592" cy="927201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A78BFA"/>
              </a:gs>
              <a:gs pos="100000">
                <a:srgbClr val="60A5F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4095" y="-6858000"/>
            <a:ext cx="10058400" cy="10058400"/>
          </a:xfrm>
          <a:prstGeom prst="ellipse">
            <a:avLst/>
          </a:prstGeom>
          <a:gradFill flip="none" rotWithShape="1">
            <a:gsLst>
              <a:gs pos="0">
                <a:srgbClr val="60A5FA">
                  <a:alpha val="14000"/>
                </a:srgbClr>
              </a:gs>
              <a:gs pos="100000">
                <a:srgbClr val="60A5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A0A4B8"/>
                </a:solidFill>
                <a:latin typeface="Calibri"/>
              </a:rPr>
              <a:t>ITAMS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50292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4114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200">
                <a:solidFill>
                  <a:srgbClr val="A0A4B8"/>
                </a:solidFill>
                <a:latin typeface="Calibri"/>
              </a:rPr>
              <a:t>10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987552"/>
            <a:ext cx="45720" cy="4572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8686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0A5FA"/>
                </a:solidFill>
                <a:latin typeface="Calibri"/>
              </a:rPr>
              <a:t>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 spc="-25">
                <a:solidFill>
                  <a:srgbClr val="FAFAFA"/>
                </a:solidFill>
                <a:latin typeface="Calibri"/>
              </a:rPr>
              <a:t>Benefits &amp; impact.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0867.5" y="2651760"/>
            <a:ext cx="457200.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0867" y="2816352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 spc="-30">
                <a:solidFill>
                  <a:srgbClr val="FAFAFA"/>
                </a:solidFill>
                <a:latin typeface="Calibri"/>
              </a:rPr>
              <a:t>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5427" y="30175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AFAFA"/>
                </a:solidFill>
                <a:latin typeface="Calibri"/>
              </a:rPr>
              <a:t>lower IT spend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5427" y="352044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0A4B8"/>
                </a:solidFill>
                <a:latin typeface="Calibri"/>
              </a:rPr>
              <a:t>Eliminates duplicate purchases and unused subscriptions.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10147.5" y="2651760"/>
            <a:ext cx="457200.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10147" y="2816352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 spc="-30">
                <a:solidFill>
                  <a:srgbClr val="FAFAFA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4707" y="30175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AFAFA"/>
                </a:solidFill>
                <a:latin typeface="Calibri"/>
              </a:rPr>
              <a:t>missed renewals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707" y="352044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0A4B8"/>
                </a:solidFill>
                <a:latin typeface="Calibri"/>
              </a:rPr>
              <a:t>Automatic reminders for every tracked asset.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0867.5" y="4663440"/>
            <a:ext cx="457200.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0867" y="4828032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 spc="-30">
                <a:solidFill>
                  <a:srgbClr val="FAFAFA"/>
                </a:solidFill>
                <a:latin typeface="Calibri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5427" y="502920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AFAFA"/>
                </a:solidFill>
                <a:latin typeface="Calibri"/>
              </a:rPr>
              <a:t>audit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35427" y="553212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0A4B8"/>
                </a:solidFill>
                <a:latin typeface="Calibri"/>
              </a:rPr>
              <a:t>Every change logged with user, time and field diff.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10147.5" y="4663440"/>
            <a:ext cx="457200.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10147" y="4828032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 spc="-30">
                <a:solidFill>
                  <a:srgbClr val="FAFAFA"/>
                </a:solidFill>
                <a:latin typeface="Calibri"/>
              </a:rPr>
              <a:t>5×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4707" y="502920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AFAFA"/>
                </a:solidFill>
                <a:latin typeface="Calibri"/>
              </a:rPr>
              <a:t>faster onboarding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4707" y="553212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0A4B8"/>
                </a:solidFill>
                <a:latin typeface="Calibri"/>
              </a:rPr>
              <a:t>Bulk Excel import replaces manual entry.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0" y="2743200"/>
            <a:ext cx="10058400" cy="10058400"/>
          </a:xfrm>
          <a:prstGeom prst="ellipse">
            <a:avLst/>
          </a:prstGeom>
          <a:gradFill flip="none" rotWithShape="1">
            <a:gsLst>
              <a:gs pos="0">
                <a:srgbClr val="A78BFA">
                  <a:alpha val="1200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A0A4B8"/>
                </a:solidFill>
                <a:latin typeface="Calibri"/>
              </a:rPr>
              <a:t>ITAMS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50292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4114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200">
                <a:solidFill>
                  <a:srgbClr val="A0A4B8"/>
                </a:solidFill>
                <a:latin typeface="Calibri"/>
              </a:rPr>
              <a:t>11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987552"/>
            <a:ext cx="45720" cy="4572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8686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0A5FA"/>
                </a:solidFill>
                <a:latin typeface="Calibri"/>
              </a:rPr>
              <a:t>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 spc="-25">
                <a:solidFill>
                  <a:srgbClr val="FAFAFA"/>
                </a:solidFill>
                <a:latin typeface="Calibri"/>
              </a:rPr>
              <a:t>What we worked through.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743200"/>
            <a:ext cx="18288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8803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60A5FA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34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-10">
                <a:solidFill>
                  <a:srgbClr val="FAFAFA"/>
                </a:solidFill>
                <a:latin typeface="Calibri"/>
              </a:rPr>
              <a:t>Mail deliverability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10134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0A4B8"/>
                </a:solidFill>
                <a:latin typeface="Calibri"/>
              </a:rPr>
              <a:t>Some SMTP servers reject mailbox addresses without warning. Solved with graceful per-recipient error handling and configurable lists.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3566160"/>
            <a:ext cx="10820095" cy="0"/>
          </a:xfrm>
          <a:prstGeom prst="line">
            <a:avLst/>
          </a:prstGeom>
          <a:ln w="6350">
            <a:solidFill>
              <a:srgbClr val="1F25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" y="3657600"/>
            <a:ext cx="18288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37947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60A5FA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749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-10">
                <a:solidFill>
                  <a:srgbClr val="FAFAFA"/>
                </a:solidFill>
                <a:latin typeface="Calibri"/>
              </a:rPr>
              <a:t>Notification dedupe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114800"/>
            <a:ext cx="10134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0A4B8"/>
                </a:solidFill>
                <a:latin typeface="Calibri"/>
              </a:rPr>
              <a:t>Re-running the daily check risked spamming recipients. Per-day uniqueness check on the notifications table prevents duplicates.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4480560"/>
            <a:ext cx="10820095" cy="0"/>
          </a:xfrm>
          <a:prstGeom prst="line">
            <a:avLst/>
          </a:prstGeom>
          <a:ln w="6350">
            <a:solidFill>
              <a:srgbClr val="1F25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" y="4572000"/>
            <a:ext cx="18288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47091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60A5FA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663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-10">
                <a:solidFill>
                  <a:srgbClr val="FAFAFA"/>
                </a:solidFill>
                <a:latin typeface="Calibri"/>
              </a:rPr>
              <a:t>Permission granularity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029200"/>
            <a:ext cx="10134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0A4B8"/>
                </a:solidFill>
                <a:latin typeface="Calibri"/>
              </a:rPr>
              <a:t>Initial admin/user split was too coarse. Evolved into a per-module view/edit boolean grid matching real team structures.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5394960"/>
            <a:ext cx="10820095" cy="0"/>
          </a:xfrm>
          <a:prstGeom prst="line">
            <a:avLst/>
          </a:prstGeom>
          <a:ln w="6350">
            <a:solidFill>
              <a:srgbClr val="1F25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" y="5486400"/>
            <a:ext cx="18288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56235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60A5FA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577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-10">
                <a:solidFill>
                  <a:srgbClr val="FAFAFA"/>
                </a:solidFill>
                <a:latin typeface="Calibri"/>
              </a:rPr>
              <a:t>Cross-entity expiry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943600"/>
            <a:ext cx="10134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0A4B8"/>
                </a:solidFill>
                <a:latin typeface="Calibri"/>
              </a:rPr>
              <a:t>Subscriptions and licenses use different status fields. Refactored into two parallel passes sharing a recipient resolver.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4095" y="-6858000"/>
            <a:ext cx="10058400" cy="10058400"/>
          </a:xfrm>
          <a:prstGeom prst="ellipse">
            <a:avLst/>
          </a:prstGeom>
          <a:gradFill flip="none" rotWithShape="1">
            <a:gsLst>
              <a:gs pos="0">
                <a:srgbClr val="60A5FA">
                  <a:alpha val="14000"/>
                </a:srgbClr>
              </a:gs>
              <a:gs pos="100000">
                <a:srgbClr val="60A5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A0A4B8"/>
                </a:solidFill>
                <a:latin typeface="Calibri"/>
              </a:rPr>
              <a:t>ITAMS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50292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4114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200">
                <a:solidFill>
                  <a:srgbClr val="A0A4B8"/>
                </a:solidFill>
                <a:latin typeface="Calibri"/>
              </a:rPr>
              <a:t>12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987552"/>
            <a:ext cx="45720" cy="4572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8686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0A5FA"/>
                </a:solidFill>
                <a:latin typeface="Calibri"/>
              </a:rPr>
              <a:t>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 spc="-25">
                <a:solidFill>
                  <a:srgbClr val="FAFAFA"/>
                </a:solidFill>
                <a:latin typeface="Calibri"/>
              </a:rPr>
              <a:t>What's next.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327" y="3781044"/>
            <a:ext cx="10607040" cy="27432"/>
          </a:xfrm>
          <a:prstGeom prst="rect">
            <a:avLst/>
          </a:prstGeom>
          <a:gradFill flip="none" rotWithShape="1">
            <a:gsLst>
              <a:gs pos="0">
                <a:srgbClr val="60A5FA"/>
              </a:gs>
              <a:gs pos="100000">
                <a:srgbClr val="A78BF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00987" y="2926080"/>
            <a:ext cx="822960" cy="384048"/>
          </a:xfrm>
          <a:prstGeom prst="roundRect">
            <a:avLst>
              <a:gd name="adj" fmla="val 45000"/>
            </a:avLst>
          </a:prstGeom>
          <a:solidFill>
            <a:srgbClr val="131829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0987" y="292608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150">
                <a:solidFill>
                  <a:srgbClr val="60A5FA"/>
                </a:solidFill>
                <a:latin typeface="Calibri"/>
              </a:rPr>
              <a:t>Q1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30171" y="37124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66747" y="374904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447" y="406908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 spc="-10">
                <a:solidFill>
                  <a:srgbClr val="FAFAFA"/>
                </a:solidFill>
                <a:latin typeface="Calibri"/>
              </a:rPr>
              <a:t>Mobile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607" y="4617720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A0A4B8"/>
                </a:solidFill>
                <a:latin typeface="Calibri"/>
              </a:rPr>
              <a:t>Native iOS / Android for on-the-go asset check-in &amp; QR scanning.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89907" y="2926080"/>
            <a:ext cx="822960" cy="384048"/>
          </a:xfrm>
          <a:prstGeom prst="roundRect">
            <a:avLst>
              <a:gd name="adj" fmla="val 45000"/>
            </a:avLst>
          </a:prstGeom>
          <a:solidFill>
            <a:srgbClr val="131829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89907" y="292608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150">
                <a:solidFill>
                  <a:srgbClr val="60A5FA"/>
                </a:solidFill>
                <a:latin typeface="Calibri"/>
              </a:rPr>
              <a:t>Q2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9091" y="37124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55667" y="374904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98367" y="406908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 spc="-10">
                <a:solidFill>
                  <a:srgbClr val="FAFAFA"/>
                </a:solidFill>
                <a:latin typeface="Calibri"/>
              </a:rPr>
              <a:t>Integrations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5527" y="4617720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A0A4B8"/>
                </a:solidFill>
                <a:latin typeface="Calibri"/>
              </a:rPr>
              <a:t>Slack, Microsoft Teams, and Jira Service Desk webhooks.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78827" y="2926080"/>
            <a:ext cx="822960" cy="384048"/>
          </a:xfrm>
          <a:prstGeom prst="roundRect">
            <a:avLst>
              <a:gd name="adj" fmla="val 45000"/>
            </a:avLst>
          </a:prstGeom>
          <a:solidFill>
            <a:srgbClr val="131829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78827" y="292608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150">
                <a:solidFill>
                  <a:srgbClr val="60A5FA"/>
                </a:solidFill>
                <a:latin typeface="Calibri"/>
              </a:rPr>
              <a:t>Q3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8011" y="37124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44587" y="374904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7287" y="406908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 spc="-10">
                <a:solidFill>
                  <a:srgbClr val="FAFAFA"/>
                </a:solidFill>
                <a:latin typeface="Calibri"/>
              </a:rPr>
              <a:t>AI insights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4447" y="4617720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A0A4B8"/>
                </a:solidFill>
                <a:latin typeface="Calibri"/>
              </a:rPr>
              <a:t>Forecast costs and recommend consolidation opportunities.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67747" y="2926080"/>
            <a:ext cx="822960" cy="384048"/>
          </a:xfrm>
          <a:prstGeom prst="roundRect">
            <a:avLst>
              <a:gd name="adj" fmla="val 45000"/>
            </a:avLst>
          </a:prstGeom>
          <a:solidFill>
            <a:srgbClr val="131829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67747" y="292608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150">
                <a:solidFill>
                  <a:srgbClr val="60A5FA"/>
                </a:solidFill>
                <a:latin typeface="Calibri"/>
              </a:rPr>
              <a:t>Q4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96931" y="37124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233507" y="374904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76207" y="406908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 spc="-10">
                <a:solidFill>
                  <a:srgbClr val="FAFAFA"/>
                </a:solidFill>
                <a:latin typeface="Calibri"/>
              </a:rPr>
              <a:t>Multi-tenant SaaS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3367" y="4617720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A0A4B8"/>
                </a:solidFill>
                <a:latin typeface="Calibri"/>
              </a:rPr>
              <a:t>Org isolation, SSO / SAML, per-tenant billing.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0" y="2743200"/>
            <a:ext cx="10058400" cy="10058400"/>
          </a:xfrm>
          <a:prstGeom prst="ellipse">
            <a:avLst/>
          </a:prstGeom>
          <a:gradFill flip="none" rotWithShape="1">
            <a:gsLst>
              <a:gs pos="0">
                <a:srgbClr val="A78BFA">
                  <a:alpha val="1200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A0A4B8"/>
                </a:solidFill>
                <a:latin typeface="Calibri"/>
              </a:rPr>
              <a:t>ITAMS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50292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4114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200">
                <a:solidFill>
                  <a:srgbClr val="A0A4B8"/>
                </a:solidFill>
                <a:latin typeface="Calibri"/>
              </a:rPr>
              <a:t>13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987552"/>
            <a:ext cx="45720" cy="4572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8686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0A5FA"/>
                </a:solidFill>
                <a:latin typeface="Calibri"/>
              </a:rP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 spc="-25">
                <a:solidFill>
                  <a:srgbClr val="FAFAFA"/>
                </a:solidFill>
                <a:latin typeface="Calibri"/>
              </a:rPr>
              <a:t>The people behind ITAMS.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567" y="2697480"/>
            <a:ext cx="2697480" cy="2743200"/>
          </a:xfrm>
          <a:prstGeom prst="roundRect">
            <a:avLst>
              <a:gd name="adj" fmla="val 5000"/>
            </a:avLst>
          </a:prstGeom>
          <a:solidFill>
            <a:srgbClr val="131829"/>
          </a:solidFill>
          <a:ln w="6350">
            <a:solidFill>
              <a:srgbClr val="2A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03807" y="3108960"/>
            <a:ext cx="1143000" cy="1143000"/>
          </a:xfrm>
          <a:prstGeom prst="roundRect">
            <a:avLst>
              <a:gd name="adj" fmla="val 15000"/>
            </a:avLst>
          </a:prstGeom>
          <a:gradFill flip="none" rotWithShape="1">
            <a:gsLst>
              <a:gs pos="0">
                <a:srgbClr val="60A5FA"/>
              </a:gs>
              <a:gs pos="100000">
                <a:srgbClr val="A78BFA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3807" y="3108960"/>
            <a:ext cx="1143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 spc="-10">
                <a:solidFill>
                  <a:srgbClr val="FAFAFA"/>
                </a:solidFill>
                <a:latin typeface="Calibri"/>
              </a:rPr>
              <a:t>PL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567" y="45262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AFAFA"/>
                </a:solidFill>
                <a:latin typeface="Calibri"/>
              </a:rPr>
              <a:t>[Member 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567" y="48920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A0A4B8"/>
                </a:solidFill>
                <a:latin typeface="Calibri"/>
              </a:rPr>
              <a:t>Project Lead / Backend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06927" y="2697480"/>
            <a:ext cx="2697480" cy="2743200"/>
          </a:xfrm>
          <a:prstGeom prst="roundRect">
            <a:avLst>
              <a:gd name="adj" fmla="val 5000"/>
            </a:avLst>
          </a:prstGeom>
          <a:solidFill>
            <a:srgbClr val="131829"/>
          </a:solidFill>
          <a:ln w="6350">
            <a:solidFill>
              <a:srgbClr val="2A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84167" y="3108960"/>
            <a:ext cx="1143000" cy="1143000"/>
          </a:xfrm>
          <a:prstGeom prst="roundRect">
            <a:avLst>
              <a:gd name="adj" fmla="val 15000"/>
            </a:avLst>
          </a:prstGeom>
          <a:gradFill flip="none" rotWithShape="1">
            <a:gsLst>
              <a:gs pos="0">
                <a:srgbClr val="A78BFA"/>
              </a:gs>
              <a:gs pos="100000">
                <a:srgbClr val="A78BFA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84167" y="3108960"/>
            <a:ext cx="1143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 spc="-10">
                <a:solidFill>
                  <a:srgbClr val="FAFAFA"/>
                </a:solidFill>
                <a:latin typeface="Calibri"/>
              </a:rPr>
              <a:t>FE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6927" y="45262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AFAFA"/>
                </a:solidFill>
                <a:latin typeface="Calibri"/>
              </a:rPr>
              <a:t>[Member 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06927" y="48920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A0A4B8"/>
                </a:solidFill>
                <a:latin typeface="Calibri"/>
              </a:rPr>
              <a:t>Frontend / UI Engineer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7287" y="2697480"/>
            <a:ext cx="2697480" cy="2743200"/>
          </a:xfrm>
          <a:prstGeom prst="roundRect">
            <a:avLst>
              <a:gd name="adj" fmla="val 5000"/>
            </a:avLst>
          </a:prstGeom>
          <a:solidFill>
            <a:srgbClr val="131829"/>
          </a:solidFill>
          <a:ln w="6350">
            <a:solidFill>
              <a:srgbClr val="2A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64527" y="3108960"/>
            <a:ext cx="1143000" cy="1143000"/>
          </a:xfrm>
          <a:prstGeom prst="roundRect">
            <a:avLst>
              <a:gd name="adj" fmla="val 15000"/>
            </a:avLst>
          </a:prstGeom>
          <a:gradFill flip="none" rotWithShape="1">
            <a:gsLst>
              <a:gs pos="0">
                <a:srgbClr val="34D399"/>
              </a:gs>
              <a:gs pos="100000">
                <a:srgbClr val="A78BFA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4527" y="3108960"/>
            <a:ext cx="1143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 spc="-10">
                <a:solidFill>
                  <a:srgbClr val="FAFAFA"/>
                </a:solidFill>
                <a:latin typeface="Calibri"/>
              </a:rPr>
              <a:t>FS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7287" y="45262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AFAFA"/>
                </a:solidFill>
                <a:latin typeface="Calibri"/>
              </a:rPr>
              <a:t>[Member 3]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7287" y="48920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A0A4B8"/>
                </a:solidFill>
                <a:latin typeface="Calibri"/>
              </a:rPr>
              <a:t>Full-Stack Developer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7647" y="2697480"/>
            <a:ext cx="2697480" cy="2743200"/>
          </a:xfrm>
          <a:prstGeom prst="roundRect">
            <a:avLst>
              <a:gd name="adj" fmla="val 5000"/>
            </a:avLst>
          </a:prstGeom>
          <a:solidFill>
            <a:srgbClr val="131829"/>
          </a:solidFill>
          <a:ln w="6350">
            <a:solidFill>
              <a:srgbClr val="2A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844887" y="3108960"/>
            <a:ext cx="1143000" cy="1143000"/>
          </a:xfrm>
          <a:prstGeom prst="roundRect">
            <a:avLst>
              <a:gd name="adj" fmla="val 15000"/>
            </a:avLst>
          </a:prstGeom>
          <a:gradFill flip="none" rotWithShape="1">
            <a:gsLst>
              <a:gs pos="0">
                <a:srgbClr val="3B82F6"/>
              </a:gs>
              <a:gs pos="100000">
                <a:srgbClr val="A78BFA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44887" y="3108960"/>
            <a:ext cx="1143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 spc="-10">
                <a:solidFill>
                  <a:srgbClr val="FAFAFA"/>
                </a:solidFill>
                <a:latin typeface="Calibri"/>
              </a:rPr>
              <a:t>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7647" y="45262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AFAFA"/>
                </a:solidFill>
                <a:latin typeface="Calibri"/>
              </a:rPr>
              <a:t>[Member 4]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7647" y="48920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A0A4B8"/>
                </a:solidFill>
                <a:latin typeface="Calibri"/>
              </a:rPr>
              <a:t>Database / DevOps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4095" y="-6858000"/>
            <a:ext cx="10058400" cy="10058400"/>
          </a:xfrm>
          <a:prstGeom prst="ellipse">
            <a:avLst/>
          </a:prstGeom>
          <a:gradFill flip="none" rotWithShape="1">
            <a:gsLst>
              <a:gs pos="0">
                <a:srgbClr val="60A5FA">
                  <a:alpha val="14000"/>
                </a:srgbClr>
              </a:gs>
              <a:gs pos="100000">
                <a:srgbClr val="60A5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A0A4B8"/>
                </a:solidFill>
                <a:latin typeface="Calibri"/>
              </a:rPr>
              <a:t>ITAMS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50292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4114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200">
                <a:solidFill>
                  <a:srgbClr val="A0A4B8"/>
                </a:solidFill>
                <a:latin typeface="Calibri"/>
              </a:rPr>
              <a:t>14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78992"/>
            <a:ext cx="45720" cy="4572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0A5FA"/>
                </a:solidFill>
                <a:latin typeface="Calibri"/>
              </a:rPr>
              <a:t>in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 spc="-25">
                <a:solidFill>
                  <a:srgbClr val="FAFAFA"/>
                </a:solidFill>
                <a:latin typeface="Calibri"/>
              </a:rPr>
              <a:t>From spreadsheets</a:t>
            </a:r>
          </a:p>
          <a:p>
            <a:pPr algn="l"/>
            <a:r>
              <a:rPr sz="4600" b="1" i="0" spc="-25">
                <a:solidFill>
                  <a:srgbClr val="FAFAFA"/>
                </a:solidFill>
                <a:latin typeface="Calibri"/>
              </a:rPr>
              <a:t>to a single source of truth.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862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A0A4B8"/>
                </a:solidFill>
                <a:latin typeface="Calibri"/>
              </a:rPr>
              <a:t>ITAMS gives IT teams the visibility and automation they need.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0847.5" y="5029200"/>
            <a:ext cx="365760.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0847" y="5212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-10">
                <a:solidFill>
                  <a:srgbClr val="FAFAFA"/>
                </a:solidFill>
                <a:latin typeface="Calibri"/>
              </a:rPr>
              <a:t>Ready to deploy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847" y="566928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0A4B8"/>
                </a:solidFill>
                <a:latin typeface="Calibri"/>
              </a:rPr>
              <a:t>Runs on a standard Laravel + LAMP / XAMPP stack.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67047.5" y="5029200"/>
            <a:ext cx="365760.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67047" y="5212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-10">
                <a:solidFill>
                  <a:srgbClr val="FAFAFA"/>
                </a:solidFill>
                <a:latin typeface="Calibri"/>
              </a:rPr>
              <a:t>Designed for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7047" y="566928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0A4B8"/>
                </a:solidFill>
                <a:latin typeface="Calibri"/>
              </a:rPr>
              <a:t>Modern UI with dark mode and accessibility built in.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53247.5" y="5029200"/>
            <a:ext cx="365760.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53247" y="5212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-10">
                <a:solidFill>
                  <a:srgbClr val="FAFAFA"/>
                </a:solidFill>
                <a:latin typeface="Calibri"/>
              </a:rPr>
              <a:t>Built to extend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3247" y="566928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0A4B8"/>
                </a:solidFill>
                <a:latin typeface="Calibri"/>
              </a:rPr>
              <a:t>Modular architecture invites new asset types &amp; integrations.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04952" y="-2514600"/>
            <a:ext cx="12801600" cy="12801600"/>
          </a:xfrm>
          <a:prstGeom prst="ellipse">
            <a:avLst/>
          </a:prstGeom>
          <a:gradFill flip="none" rotWithShape="1">
            <a:gsLst>
              <a:gs pos="0">
                <a:srgbClr val="60A5FA">
                  <a:alpha val="25000"/>
                </a:srgbClr>
              </a:gs>
              <a:gs pos="100000">
                <a:srgbClr val="60A5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267047" y="-2057400"/>
            <a:ext cx="9144000" cy="9144000"/>
          </a:xfrm>
          <a:prstGeom prst="ellipse">
            <a:avLst/>
          </a:prstGeom>
          <a:gradFill flip="none" rotWithShape="1">
            <a:gsLst>
              <a:gs pos="0">
                <a:srgbClr val="A78BFA">
                  <a:alpha val="1800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 spc="400">
                <a:solidFill>
                  <a:srgbClr val="6B7290"/>
                </a:solidFill>
                <a:latin typeface="Calibri"/>
              </a:rPr>
              <a:t>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377440"/>
            <a:ext cx="12191695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0" b="1" i="0" spc="-25">
                <a:solidFill>
                  <a:srgbClr val="FAFAFA"/>
                </a:solidFill>
                <a:latin typeface="Calibri"/>
              </a:rPr>
              <a:t>Thank you.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10047" y="4617720"/>
            <a:ext cx="1371600" cy="3657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0A5FA"/>
              </a:gs>
              <a:gs pos="100000">
                <a:srgbClr val="A78BF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80060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A0A4B8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 spc="400">
                <a:solidFill>
                  <a:srgbClr val="6B7290"/>
                </a:solidFill>
                <a:latin typeface="Calibri"/>
              </a:rPr>
              <a:t>team itams  ·  it asset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4B516B"/>
                </a:solidFill>
                <a:latin typeface="Calibri"/>
              </a:rPr>
              <a:t>[ contact email · repo link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