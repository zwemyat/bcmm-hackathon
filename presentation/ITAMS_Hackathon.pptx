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828800" y="-182880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-228600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-2286000" y="41148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640080"/>
            <a:ext cx="777240" cy="777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008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Calibri"/>
              </a:rPr>
              <a:t>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ITAMS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005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11680"/>
            <a:ext cx="2194560" cy="3200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116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Calibri"/>
              </a:rPr>
              <a:t>ITAMS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BD5E1"/>
                </a:solidFill>
                <a:latin typeface="Calibri"/>
              </a:rPr>
              <a:t>An Enterprise IT Asset Management 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37760"/>
            <a:ext cx="91440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Presented 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Team ITAMS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Hackathon 2026  ·  IT Infrastructure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Calibri"/>
              </a:rPr>
              <a:t>ITAMS  ·  IT Asset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"/>
            <a:ext cx="2194560" cy="292608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PROJECT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Meet the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447" y="228600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72387" y="269748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2387" y="26974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PL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" y="42519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[Member 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" y="47091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Project Lead / 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83867" y="525780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98367" y="228600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61307" y="269748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1307" y="26974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8367" y="42519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[Member 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8367" y="47091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Frontend / UI Engineer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72787" y="5257800"/>
            <a:ext cx="45720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7287" y="228600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0227" y="269748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0227" y="26974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42519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[Member 3]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47091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Full-Stack Developer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1707" y="5257800"/>
            <a:ext cx="457200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76207" y="228600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39147" y="269748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39147" y="2697480"/>
            <a:ext cx="12801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6207" y="42519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[Member 4]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6207" y="470916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Database / DevOps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0627" y="5257800"/>
            <a:ext cx="457200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A cross-functional team building enterprise-grade IT operations tooling.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Calibri"/>
              </a:rPr>
              <a:t>ITAMS  ·  IT Asset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  <a:latin typeface="Calibr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"/>
            <a:ext cx="2194560" cy="292608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IT teams lose visibility and money managing assets in spreadsheets.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5439" y="3108960"/>
            <a:ext cx="265176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759" y="33832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759" y="3383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759" y="4023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Manual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759" y="443484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Devices, licenses &amp; subscriptions live in disconnected Excel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1791" y="3108960"/>
            <a:ext cx="265176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36111" y="33832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6111" y="3383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6111" y="4023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Missed renewals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6111" y="443484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Contracts auto-renew or expire without warning, causing downtime.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3108960"/>
            <a:ext cx="265176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52463" y="33832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2463" y="3383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2463" y="4023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No 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463" y="443484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No record of who changed what, when — failing compliance reviews.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4495" y="3108960"/>
            <a:ext cx="265176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68815" y="33832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8815" y="33832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8815" y="402336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Hidden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8815" y="4434840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Duplicate purchases &amp; unused subscriptions inflate IT spend by 20–30%.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Calibri"/>
              </a:rPr>
              <a:t>ITAMS  ·  IT Asset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  <a:latin typeface="Calibr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"/>
            <a:ext cx="2194560" cy="292608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Our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A single web platform for the entire IT asset lifecycle.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ITAMS unifies hardware, devices, software licenses and subscriptions —</a:t>
            </a:r>
          </a:p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with automated renewal reminders, role-based access, and a full audit 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167" y="420624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29487" y="448056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487" y="4480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5287" y="4526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Unify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5287" y="49834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One source of truth for every IT asset.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8487" y="420624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32807" y="448056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2807" y="4480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8607" y="4526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Automate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607" y="49834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Email + in-app reminders before things expire.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1807" y="420624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36127" y="448056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6127" y="4480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1927" y="4526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Govern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1927" y="49834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Role-based access and full activity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Calibri"/>
              </a:rPr>
              <a:t>ITAMS  ·  IT Asset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  <a:latin typeface="Calibr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"/>
            <a:ext cx="2194560" cy="292608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System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3767" y="2286000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3767" y="2286000"/>
            <a:ext cx="109728" cy="1005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8087" y="2423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Presentation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8087" y="2834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Browser  ·  Bootstrap 5  ·  Blade Views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75607.5" y="2788920.0"/>
            <a:ext cx="274320.0" cy="0.0"/>
          </a:xfrm>
          <a:prstGeom prst="line">
            <a:avLst/>
          </a:prstGeom>
          <a:ln w="1905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49927" y="2286000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9927" y="2286000"/>
            <a:ext cx="109728" cy="10058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4247" y="2423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Application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4247" y="2834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Laravel 11  ·  Controllers  ·  Mailables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41767.5" y="2788920.0"/>
            <a:ext cx="274320.0" cy="0.0"/>
          </a:xfrm>
          <a:prstGeom prst="line">
            <a:avLst/>
          </a:prstGeom>
          <a:ln w="1905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16087" y="2286000"/>
            <a:ext cx="32918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6087" y="2286000"/>
            <a:ext cx="109728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0407" y="2423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Data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0407" y="2834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MySQL 8  ·  Eloquent ORM  ·  Migrations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3767" y="3749039"/>
            <a:ext cx="10424160" cy="868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49527" y="3840479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Background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9527" y="4160519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Calibri"/>
              </a:rPr>
              <a:t>⏱  Scheduler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9527" y="437083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Calibri"/>
              </a:rPr>
              <a:t>app:check-expirations runs daily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1367" y="4160519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Calibri"/>
              </a:rPr>
              <a:t>📧  SMTP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1367" y="437083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Calibri"/>
              </a:rPr>
              <a:t>Renewal reminder emails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3207" y="4160519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563EB"/>
                </a:solidFill>
                <a:latin typeface="Calibri"/>
              </a:rPr>
              <a:t>📝  Activity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3207" y="437083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  <a:latin typeface="Calibri"/>
              </a:rPr>
              <a:t>Per-user 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Functional Modules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46320"/>
            <a:ext cx="175762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846320"/>
            <a:ext cx="1757629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349240"/>
            <a:ext cx="175762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PC Master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97709" y="4846320"/>
            <a:ext cx="175762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97709" y="4846320"/>
            <a:ext cx="1757629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97709" y="5349240"/>
            <a:ext cx="175762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Device Master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46778" y="4846320"/>
            <a:ext cx="175762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46778" y="4846320"/>
            <a:ext cx="1757629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46778" y="5349240"/>
            <a:ext cx="175762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Subscriptions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95847" y="4846320"/>
            <a:ext cx="175762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5847" y="4846320"/>
            <a:ext cx="1757629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5847" y="5349240"/>
            <a:ext cx="175762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Licenses &amp; Contracts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44916" y="4846320"/>
            <a:ext cx="175762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44916" y="4846320"/>
            <a:ext cx="1757629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44916" y="5349240"/>
            <a:ext cx="175762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Notifications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93985" y="4846320"/>
            <a:ext cx="175762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93985" y="4846320"/>
            <a:ext cx="1757629" cy="73152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93985" y="5349240"/>
            <a:ext cx="175762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User &amp; Role Mgmt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Calibri"/>
              </a:rPr>
              <a:t>ITAMS  ·  IT Asset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  <a:latin typeface="Calibr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"/>
            <a:ext cx="2194560" cy="292608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WHAT IT DOES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Key Features — Asset Modules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6567" y="22860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567" y="2286000"/>
            <a:ext cx="2697480" cy="3108960"/>
          </a:xfrm>
          <a:prstGeom prst="roundRect">
            <a:avLst>
              <a:gd name="adj" fmla="val 6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0887" y="2560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887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" y="3246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PC 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87" y="365760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Track every workstation: assignee, OS, specs, purchase date, warranty.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6927" y="22860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06927" y="2286000"/>
            <a:ext cx="2697480" cy="3108960"/>
          </a:xfrm>
          <a:prstGeom prst="roundRect">
            <a:avLst>
              <a:gd name="adj" fmla="val 6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81247" y="2560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1247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1247" y="3246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Device Master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247" y="365760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Network hardware inventory — routers, switches, servers, printers.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22860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87287" y="2286000"/>
            <a:ext cx="2697480" cy="3108960"/>
          </a:xfrm>
          <a:prstGeom prst="roundRect">
            <a:avLst>
              <a:gd name="adj" fmla="val 6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61607" y="2560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1607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607" y="3246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Subscriptions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365760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Recurring service subscriptions with renewal cycles and vendor data.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647" y="22860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67647" y="2286000"/>
            <a:ext cx="2697480" cy="3108960"/>
          </a:xfrm>
          <a:prstGeom prst="roundRect">
            <a:avLst>
              <a:gd name="adj" fmla="val 6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41967" y="2560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1967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1967" y="3246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Licenses &amp; Contracts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1967" y="365760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Software licenses and vendor contracts with expiry tracking.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Calibri"/>
              </a:rPr>
              <a:t>Import / export to Excel · Bulk operations · Searchable, filterable, paginated.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Calibri"/>
              </a:rPr>
              <a:t>ITAMS  ·  IT Asset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"/>
            <a:ext cx="2194560" cy="292608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WHAT IT DOES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Key Features — Operations &amp; Governance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6567" y="22860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567" y="2286000"/>
            <a:ext cx="2697480" cy="3108960"/>
          </a:xfrm>
          <a:prstGeom prst="roundRect">
            <a:avLst>
              <a:gd name="adj" fmla="val 6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0887" y="2560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887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" y="3246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Smart Reminders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87" y="365760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Daily scheduler flags items expiring within a configurable window; emails recipients and posts in-app notifications.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6927" y="22860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06927" y="2286000"/>
            <a:ext cx="2697480" cy="3108960"/>
          </a:xfrm>
          <a:prstGeom prst="roundRect">
            <a:avLst>
              <a:gd name="adj" fmla="val 6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81247" y="2560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1247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1247" y="3246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Role-Based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247" y="365760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Admin / Manager / Viewer roles with per-module permissions, enforced by middleware.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22860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87287" y="2286000"/>
            <a:ext cx="2697480" cy="3108960"/>
          </a:xfrm>
          <a:prstGeom prst="roundRect">
            <a:avLst>
              <a:gd name="adj" fmla="val 6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61607" y="2560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1607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607" y="3246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365760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Every create / update / delete recorded with user, timestamp, and field-level diff.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647" y="228600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67647" y="2286000"/>
            <a:ext cx="2697480" cy="3108960"/>
          </a:xfrm>
          <a:prstGeom prst="roundRect">
            <a:avLst>
              <a:gd name="adj" fmla="val 6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41967" y="2560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1967" y="25603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1967" y="324612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Configurable Mail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1967" y="365760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Switch between .env SMTP and database-driven settings without redeploying.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Calibri"/>
              </a:rPr>
              <a:t>Built-in test email previews the real renewal template with live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Calibri"/>
              </a:rPr>
              <a:t>ITAMS  ·  IT Asset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  <a:latin typeface="Calibr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"/>
            <a:ext cx="2194560" cy="292608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DESIGN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UI / UX Highlights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Modern enterprise dashboard, optimized for daily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5292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Liquid-glass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Backdrop-blurred surfaces over soft gradients.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472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Dark &amp; light themes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8444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User-toggled and persisted in localStorage.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416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Modern typography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7880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Inter font with tight letter-spacing for clarity.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360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Accessible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731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Keyboard-friendly, ARIA-labeled, focus rings on all inputs.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303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Responsive layouts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675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Sidebar collapses to icon rail on tablet; full mobile reflow.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2103120"/>
            <a:ext cx="512064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2103120"/>
            <a:ext cx="5120640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20840" y="224028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0" y="224028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78040" y="224028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89520" y="2194560"/>
            <a:ext cx="3931920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221284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itams.local / 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514600"/>
            <a:ext cx="1005840" cy="3063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48272" y="2651760"/>
            <a:ext cx="676656" cy="29260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8272" y="2651760"/>
            <a:ext cx="6766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ITAMS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56832" y="3081528"/>
            <a:ext cx="859536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310896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340156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PC Master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941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Devices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398678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Subs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7939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Licenses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457200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CBD5E1"/>
                </a:solidFill>
                <a:latin typeface="Calibri"/>
              </a:rPr>
              <a:t>Logs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2743200"/>
            <a:ext cx="873252" cy="7772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0" y="274320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09560" y="2788920"/>
            <a:ext cx="6903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128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3154680"/>
            <a:ext cx="6903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PCs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27948" y="2743200"/>
            <a:ext cx="873252" cy="7772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727948" y="2743200"/>
            <a:ext cx="54864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5108" y="2788920"/>
            <a:ext cx="6903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64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5108" y="3154680"/>
            <a:ext cx="6903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Devices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83496" y="2743200"/>
            <a:ext cx="873252" cy="7772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83496" y="274320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20656" y="2788920"/>
            <a:ext cx="6903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0656" y="3154680"/>
            <a:ext cx="6903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Active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639044" y="2743200"/>
            <a:ext cx="873252" cy="7772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639044" y="2743200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76204" y="2788920"/>
            <a:ext cx="6903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76204" y="3154680"/>
            <a:ext cx="6903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Expiring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72400" y="3657600"/>
            <a:ext cx="3749040" cy="17373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46720" y="4366260"/>
            <a:ext cx="164592" cy="7543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21040" y="4091940"/>
            <a:ext cx="164592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595360" y="4544568"/>
            <a:ext cx="164592" cy="5760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869680" y="3913632"/>
            <a:ext cx="164592" cy="1207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44000" y="4297681"/>
            <a:ext cx="164592" cy="82295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418320" y="3817621"/>
            <a:ext cx="164592" cy="130301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692640" y="4160521"/>
            <a:ext cx="164592" cy="960119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966960" y="4434840"/>
            <a:ext cx="164592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Calibri"/>
              </a:rPr>
              <a:t>ITAMS  ·  IT Asset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  <a:latin typeface="Calibr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"/>
            <a:ext cx="2194560" cy="292608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BUILT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Technology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9427" y="2194560"/>
            <a:ext cx="3611880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427" y="2194560"/>
            <a:ext cx="36118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027" y="21945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747" y="2971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627" y="288036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Bootstrap 5.3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627" y="310896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UI components &amp; responsive grid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747" y="36850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627" y="359359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Bootstrap Icons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627" y="382219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Consistent iconography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3747" y="43982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627" y="430682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Inter font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627" y="4535424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Modern enterprise typeface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3747" y="51114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627" y="5020056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Vanilla 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627" y="5248656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Lightweight interactivity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9907" y="2194560"/>
            <a:ext cx="3611880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89907" y="2194560"/>
            <a:ext cx="361188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8507" y="21945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64227" y="2971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47107" y="288036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Laravel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7107" y="310896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MVC framework, Eloquent 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64227" y="36850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47107" y="359359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PHP 8.2+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7107" y="382219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Typed properties, modern syntax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64227" y="43982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7107" y="430682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Blade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7107" y="4535424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Server-rendered templating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64227" y="51114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47107" y="5020056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Maatwebsite/Excel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47107" y="5248656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Import / export to .xlsx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0387" y="2194560"/>
            <a:ext cx="3611880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0387" y="2194560"/>
            <a:ext cx="36118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8987" y="21945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DATA &amp; INFRA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04707" y="2971800"/>
            <a:ext cx="91440" cy="914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87587" y="288036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MySQL 8 / MariaDB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87587" y="310896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Relational storage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04707" y="3685032"/>
            <a:ext cx="91440" cy="914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87587" y="359359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Symfony Mailer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87587" y="382219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SMTP delivery via Laravel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04707" y="4398264"/>
            <a:ext cx="91440" cy="914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87587" y="430682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XAMPP / Apache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87587" y="4535424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Local &amp; on-premise hosting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04707" y="51114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87587" y="5020056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Cron scheduler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87587" y="5248656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Daily expiry checks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Calibri"/>
              </a:rPr>
              <a:t>ITAMS  ·  IT Asset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"/>
            <a:ext cx="2194560" cy="292608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How It 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2871" y="2468880"/>
            <a:ext cx="212140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471" y="2651760"/>
            <a:ext cx="16642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471" y="338328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471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Onboard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471" y="3931920"/>
            <a:ext cx="1664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Admin adds assets manually or imports an .xlsx file.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4279.5" y="3794760.0"/>
            <a:ext cx="109728.0" cy="0.0"/>
          </a:xfrm>
          <a:prstGeom prst="line">
            <a:avLst/>
          </a:prstGeom>
          <a:ln w="15875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04007" y="2468880"/>
            <a:ext cx="212140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2607" y="2651760"/>
            <a:ext cx="16642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4F46E5"/>
                </a:solidFill>
                <a:latin typeface="Calibri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32607" y="3383280"/>
            <a:ext cx="45720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32607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2607" y="3931920"/>
            <a:ext cx="1664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Modules show real-time status across the asset estate.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25415.5" y="3794760.0"/>
            <a:ext cx="109728.0" cy="0.0"/>
          </a:xfrm>
          <a:prstGeom prst="line">
            <a:avLst/>
          </a:prstGeom>
          <a:ln w="15875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35143" y="2468880"/>
            <a:ext cx="212140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63743" y="2651760"/>
            <a:ext cx="16642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6B6D4"/>
                </a:solidFill>
                <a:latin typeface="Calibri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63743" y="3383280"/>
            <a:ext cx="457200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63743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Detect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63743" y="3931920"/>
            <a:ext cx="1664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Daily scheduler scans for items inside the renewal window.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56551.5" y="3794760.0"/>
            <a:ext cx="109728.0" cy="0.0"/>
          </a:xfrm>
          <a:prstGeom prst="line">
            <a:avLst/>
          </a:prstGeom>
          <a:ln w="15875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66279" y="2468880"/>
            <a:ext cx="212140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4879" y="2651760"/>
            <a:ext cx="16642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4879" y="3383280"/>
            <a:ext cx="4572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4879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Notify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4879" y="3931920"/>
            <a:ext cx="1664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Email + in-app notifications fire to configured recipients.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87687.5" y="3794760.0"/>
            <a:ext cx="109728.0" cy="0.0"/>
          </a:xfrm>
          <a:prstGeom prst="line">
            <a:avLst/>
          </a:prstGeom>
          <a:ln w="15875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497415" y="2468880"/>
            <a:ext cx="212140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6015" y="2651760"/>
            <a:ext cx="16642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  <a:latin typeface="Calibri"/>
              </a:rPr>
              <a:t>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26015" y="3383280"/>
            <a:ext cx="457200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26015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Renew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6015" y="3931920"/>
            <a:ext cx="1664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Owners renew or terminate; status &amp; history auto-update.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Per-day dedupe ensures the same item is not re-notified more than once daily.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Calibri"/>
              </a:rPr>
              <a:t>ITAMS  ·  IT Asset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"/>
            <a:ext cx="2194560" cy="292608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Benefits &amp;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6567" y="219456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567" y="2194560"/>
            <a:ext cx="269748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167" y="265176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2563EB"/>
                </a:solidFill>
                <a:latin typeface="Calibri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167" y="3794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lower IT spend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167" y="425196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Eliminates duplicate purchases &amp; shelfware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6927" y="219456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06927" y="2194560"/>
            <a:ext cx="269748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5527" y="265176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5527" y="3794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missed renewals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5527" y="425196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Automatic reminders for every asset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219456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7287" y="2194560"/>
            <a:ext cx="269748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5887" y="265176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4F46E5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3794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audit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425196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Every change is logged with user &amp; timestamp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67647" y="219456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67647" y="2194560"/>
            <a:ext cx="269748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6247" y="265176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59E0B"/>
                </a:solidFill>
                <a:latin typeface="Calibri"/>
              </a:rPr>
              <a:t>5×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6247" y="379476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faster onboarding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6247" y="4251960"/>
            <a:ext cx="2240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Bulk Excel import vs. manual entry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4748B"/>
                </a:solidFill>
                <a:latin typeface="Calibri"/>
              </a:rPr>
              <a:t>Visibility · Accountability · Predictable budgets · Better compliance posture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Calibri"/>
              </a:rPr>
              <a:t>ITAMS  ·  IT Asset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"/>
            <a:ext cx="2194560" cy="292608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Future Roadmap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6567" y="228600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0887" y="2560320"/>
            <a:ext cx="777240" cy="365760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887" y="25603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87" y="3154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Mobile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" y="370332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Native iOS / Android for asset check-in &amp; QR scanning.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887" y="4983480"/>
            <a:ext cx="45720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06927" y="228600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81247" y="2560320"/>
            <a:ext cx="777240" cy="365760"/>
          </a:xfrm>
          <a:prstGeom prst="roundRect">
            <a:avLst>
              <a:gd name="adj" fmla="val 4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1247" y="25603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1247" y="3154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1247" y="370332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Slack, Microsoft Teams, Jira Service Desk webhooks.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1247" y="4983480"/>
            <a:ext cx="457200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7287" y="228600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61607" y="2560320"/>
            <a:ext cx="777240" cy="365760"/>
          </a:xfrm>
          <a:prstGeom prst="roundRect">
            <a:avLst>
              <a:gd name="adj" fmla="val 4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1607" y="25603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7" y="3154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AI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1607" y="370332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Predict cost trends; recommend consolidation opportunities.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1607" y="4983480"/>
            <a:ext cx="457200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67647" y="228600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41967" y="2560320"/>
            <a:ext cx="777240" cy="365760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1967" y="25603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1967" y="3154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Multi-tenant SaaS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1967" y="3703320"/>
            <a:ext cx="2148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Org isolation, SSO/SAML, per-tenant billing.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41967" y="4983480"/>
            <a:ext cx="457200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28816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CBD5E1"/>
                </a:solidFill>
                <a:latin typeface="Calibri"/>
              </a:rPr>
              <a:t>ITAMS  ·  IT Asset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52881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CBD5E1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2920"/>
            <a:ext cx="2194560" cy="292608"/>
          </a:xfrm>
          <a:prstGeom prst="roundRect">
            <a:avLst>
              <a:gd name="adj" fmla="val 4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WHY 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Conclusion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From spreadsheets to a single source of truth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Calibri"/>
              </a:rPr>
              <a:t>ITAMS gives IT teams the visibility and automation they need.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147" y="4206240"/>
            <a:ext cx="3611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467" y="45720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467" y="4572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5267" y="45262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Ready to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5267" y="4919472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Runs on standard Laravel + LAMP / XAMPP stack.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907" y="4206240"/>
            <a:ext cx="3611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64227" y="45720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4227" y="4572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0027" y="45262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Designed for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0027" y="4919472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Modern UI with dark mode and accessibility built 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4667" y="4206240"/>
            <a:ext cx="3611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58987" y="45720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8987" y="4572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4787" y="45262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Built to extend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4787" y="4919472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Modular architecture invites new asset types &amp; integrations.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2743200" y="-2743200"/>
            <a:ext cx="7315200" cy="7315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0" y="3657600"/>
            <a:ext cx="7315200" cy="7315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Calibri"/>
              </a:rPr>
              <a:t>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51760"/>
            <a:ext cx="121916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730087" y="429768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CBD5E1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BD5E1"/>
                </a:solidFill>
                <a:latin typeface="Calibri"/>
              </a:rPr>
              <a:t>Team ITAMS  ·  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[ contact email / repo link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