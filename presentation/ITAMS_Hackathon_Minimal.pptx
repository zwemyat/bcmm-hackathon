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300">
                <a:solidFill>
                  <a:srgbClr val="94A3B8"/>
                </a:solidFill>
                <a:latin typeface="Calibri"/>
              </a:rPr>
              <a:t>HACKATHON 2026  ·  IT INFRASTRUCTURE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4297680"/>
            <a:ext cx="114300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434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An Enterprise IT Asset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30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447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Team 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4015" y="61447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IT teams lose visibility and money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managing assets in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40AF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Manual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9884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Devices, licenses &amp; subscriptions scattered across disconnected Excel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160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40AF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9884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Contracts expire or auto-renew without warning, causing downtime or waste.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40AF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605332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No record of who changed what, when — failing internal compliance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7150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E40AF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669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Hidden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05332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Duplicate purchases and unused subscriptions inflate IT spend by 20–30%.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Our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 single platform for the entire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IT asset lifecycle.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ITAMS unifies hardware, devices, licenses and subscriptions — with automated renewal reminders, role-based access, and a full audit 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4572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1E40A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498348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Unify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587" y="54864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One source of truth for every IT asset.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6587.5" y="493776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35627" y="4572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1E40A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5627" y="498348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Automate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5627" y="54864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Email + in-app reminders before things expire.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35627.5" y="493776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84667" y="4572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1E40A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4667" y="498348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4667" y="54864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Role-based access with full activity history.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84667.5" y="493776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System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207" y="2468880"/>
            <a:ext cx="3108960" cy="128016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207" y="2743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300">
                <a:solidFill>
                  <a:srgbClr val="94A3B8"/>
                </a:solidFill>
                <a:latin typeface="Calibri"/>
              </a:rPr>
              <a:t>TIER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3337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Browser · Blade · Bootstrap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4167.5" y="3108960.0"/>
            <a:ext cx="457200.0" cy="0.0"/>
          </a:xfrm>
          <a:prstGeom prst="line">
            <a:avLst/>
          </a:prstGeom>
          <a:ln w="12700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41367" y="2468880"/>
            <a:ext cx="3108960" cy="128016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367" y="2743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300">
                <a:solidFill>
                  <a:srgbClr val="94A3B8"/>
                </a:solidFill>
                <a:latin typeface="Calibri"/>
              </a:rPr>
              <a:t>TIER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367" y="3337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Laravel 11 · Controllers · Mailables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50327.5" y="3108960.0"/>
            <a:ext cx="457200.0" cy="0.0"/>
          </a:xfrm>
          <a:prstGeom prst="line">
            <a:avLst/>
          </a:prstGeom>
          <a:ln w="12700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07527" y="2468880"/>
            <a:ext cx="3108960" cy="128016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7527" y="2743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300">
                <a:solidFill>
                  <a:srgbClr val="94A3B8"/>
                </a:solidFill>
                <a:latin typeface="Calibri"/>
              </a:rPr>
              <a:t>TIER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7527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527" y="33375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MySQL 8 · Eloquent 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5207" y="4114800"/>
            <a:ext cx="10241280" cy="86868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9527" y="42245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300">
                <a:solidFill>
                  <a:srgbClr val="94A3B8"/>
                </a:solidFill>
                <a:latin typeface="Calibri"/>
              </a:rPr>
              <a:t>BACKGROUND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9527" y="4480560"/>
            <a:ext cx="323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9527" y="4709160"/>
            <a:ext cx="323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app:check-expirations · 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407" y="4480560"/>
            <a:ext cx="323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SMTP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407" y="4709160"/>
            <a:ext cx="323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Renewal reminder emails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1287" y="4480560"/>
            <a:ext cx="323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Activity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1287" y="4709160"/>
            <a:ext cx="323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Per-user 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207" y="5074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300">
                <a:solidFill>
                  <a:srgbClr val="94A3B8"/>
                </a:solidFill>
                <a:latin typeface="Calibri"/>
              </a:rPr>
              <a:t>FUNCTIONAL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207" y="5349240"/>
            <a:ext cx="1092707" cy="457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207" y="5349240"/>
            <a:ext cx="109270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77642" y="5349240"/>
            <a:ext cx="1476756" cy="457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77642" y="534924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4126" y="5349240"/>
            <a:ext cx="1476756" cy="457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4126" y="534924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50610" y="5349240"/>
            <a:ext cx="2148840" cy="457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50610" y="53492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09178" y="5349240"/>
            <a:ext cx="1476756" cy="457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9178" y="5349240"/>
            <a:ext cx="14767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5662" y="5349240"/>
            <a:ext cx="1668780" cy="457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5662" y="5349240"/>
            <a:ext cx="16687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User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Key features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286000"/>
            <a:ext cx="0" cy="109728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Asset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PCs, devices, software licenses and recurring subscriptions in one place.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2286000"/>
            <a:ext cx="0" cy="109728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1772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Smart 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700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Daily scheduler emails configurable recipients before renewals lapse.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2286000"/>
            <a:ext cx="0" cy="109728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66760" y="22677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700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Admin / per-module view &amp; edit permissions enforced by middleware.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4069080"/>
            <a:ext cx="0" cy="109728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0507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Every create, update and delete logged with user, time and field-level diff.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0" y="4069080"/>
            <a:ext cx="0" cy="109728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7720" y="40507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Bulk import/export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Excel import &amp; export for every module, with downloadable templates.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4069080"/>
            <a:ext cx="0" cy="109728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66760" y="40507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Configurable 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45312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Switch between .env SMTP and database-driven settings without redeploying.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BUILT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47" y="2286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E40AF"/>
                </a:solidFill>
                <a:latin typeface="Calibri"/>
              </a:rPr>
              <a:t>FRONTEND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0847.5" y="2743200"/>
            <a:ext cx="3383280.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0847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Bootstrap 5.3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47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UI &amp; responsive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847" y="36758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Bootstrap Icons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847" y="39502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iconography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847" y="43342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Inter font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847" y="46085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enterprise typeface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847" y="49926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Vanilla 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847" y="52669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light interactivity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047" y="2286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E40AF"/>
                </a:solidFill>
                <a:latin typeface="Calibri"/>
              </a:rPr>
              <a:t>BACKEND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67047.5" y="2743200"/>
            <a:ext cx="3383280.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67047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Laravel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7047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MVC framework, Eloquent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047" y="36758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PHP 8.2+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047" y="39502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typed properties, modern syntax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047" y="43342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Blade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7047" y="46085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server-rendered templating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047" y="49926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Maatwebsite/Excel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047" y="52669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.xlsx import &amp;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3247" y="2286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E40AF"/>
                </a:solidFill>
                <a:latin typeface="Calibri"/>
              </a:rPr>
              <a:t>DATA &amp; INFRA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53247.5" y="2743200"/>
            <a:ext cx="3383280.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153247" y="3017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MySQL 8 / MariaDB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3247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relational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3247" y="36758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Symfony Mailer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3247" y="39502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SMTP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3247" y="43342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XAMPP / Apache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3247" y="46085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on-prem 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3247" y="49926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Cron scheduler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3247" y="52669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daily expiry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" y="27432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94A3B8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5287" y="33832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725015.5" y="3438144"/>
            <a:ext cx="2103120.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8591" y="3703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Onboard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" y="4160520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Admin adds assets manually or imports an .xlsx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1439" y="27432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8135" y="33832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937863.5" y="3438144"/>
            <a:ext cx="2103120.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31439" y="3703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1439" y="4160520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Modules show real-time status across the asset estate.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4287" y="27432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0983" y="33832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150711.5" y="3438144"/>
            <a:ext cx="2103120.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44287" y="3703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287" y="4160520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Daily scheduler scans for items inside the renewal window.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7135" y="27432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3831" y="33832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363559.5" y="3438144"/>
            <a:ext cx="2103120.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57135" y="3703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Notify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7135" y="4160520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Email + in-app notifications fire to configured recipients.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9983" y="27432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94A3B8"/>
                </a:solidFill>
                <a:latin typeface="Calibri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66679" y="33832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9983" y="3703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Renew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9983" y="4160520"/>
            <a:ext cx="2103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Owners renew or terminate; status &amp; history auto-update.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Per-day dedupe ensures the same item is not re-notified more than once daily.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UI / UX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Interface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Designed for daily IT operations.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163824"/>
            <a:ext cx="13716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29992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Modern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644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Liquid-glass cards over soft gradient surfaces.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712464"/>
            <a:ext cx="13716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5478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Light &amp; dark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13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Theme persists across sessions per user.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261104"/>
            <a:ext cx="13716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0965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Inter typography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61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Tight letter-spacing, optimized for scanning.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809744"/>
            <a:ext cx="13716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6451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Accessibility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103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Keyboard navigation, ARIA labels, visible focus.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5358384"/>
            <a:ext cx="13716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8680" y="51937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Responsive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589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Sidebar rail on tablet; full reflow on mobile.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194560"/>
            <a:ext cx="4754880" cy="36576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858000" y="2578608"/>
            <a:ext cx="475488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995160" y="2313432"/>
            <a:ext cx="128016" cy="128016"/>
          </a:xfrm>
          <a:prstGeom prst="rect">
            <a:avLst/>
          </a:prstGeom>
          <a:noFill/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96328" y="2313432"/>
            <a:ext cx="128016" cy="128016"/>
          </a:xfrm>
          <a:prstGeom prst="rect">
            <a:avLst/>
          </a:prstGeom>
          <a:noFill/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7496" y="2313432"/>
            <a:ext cx="128016" cy="128016"/>
          </a:xfrm>
          <a:prstGeom prst="rect">
            <a:avLst/>
          </a:prstGeom>
          <a:noFill/>
          <a:ln w="63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2860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itams.local / dashboard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0" y="2578608"/>
            <a:ext cx="0" cy="3273552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95160" y="274320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49440" y="3227832"/>
            <a:ext cx="109728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04888" y="3108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4888" y="34015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PC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369417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39867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Subscriptions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8" y="427939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Licenses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4888" y="45720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Activity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834640"/>
            <a:ext cx="813816" cy="777240"/>
          </a:xfrm>
          <a:prstGeom prst="rect">
            <a:avLst/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10728" y="2889504"/>
            <a:ext cx="630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8" y="3291840"/>
            <a:ext cx="630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PCS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78824" y="2834640"/>
            <a:ext cx="813816" cy="777240"/>
          </a:xfrm>
          <a:prstGeom prst="rect">
            <a:avLst/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88552" y="2889504"/>
            <a:ext cx="630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552" y="3291840"/>
            <a:ext cx="630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56648" y="2834640"/>
            <a:ext cx="813816" cy="777240"/>
          </a:xfrm>
          <a:prstGeom prst="rect">
            <a:avLst/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66376" y="2889504"/>
            <a:ext cx="630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3291840"/>
            <a:ext cx="630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ACTIVE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34472" y="2834640"/>
            <a:ext cx="813816" cy="777240"/>
          </a:xfrm>
          <a:prstGeom prst="rect">
            <a:avLst/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44200" y="2889504"/>
            <a:ext cx="630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3291840"/>
            <a:ext cx="630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EXPIRING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01000" y="3794760"/>
            <a:ext cx="3474720" cy="1828800"/>
          </a:xfrm>
          <a:prstGeom prst="rect">
            <a:avLst/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4777740"/>
            <a:ext cx="164592" cy="6172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17636" y="4434841"/>
            <a:ext cx="164592" cy="9601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97112" y="4640580"/>
            <a:ext cx="164592" cy="7543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76588" y="4229100"/>
            <a:ext cx="164592" cy="11658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56064" y="4572001"/>
            <a:ext cx="164592" cy="82295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35540" y="4091941"/>
            <a:ext cx="164592" cy="13030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15016" y="4434841"/>
            <a:ext cx="164592" cy="96011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794492" y="4709160"/>
            <a:ext cx="164592" cy="685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173968" y="4325112"/>
            <a:ext cx="164592" cy="10698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Benefits &amp; impact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6567.5" y="2468880"/>
            <a:ext cx="54864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6567" y="265176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67" y="3840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lower IT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567" y="4251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Eliminates duplicate purchases and unused subscriptions.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06927.5" y="2468880"/>
            <a:ext cx="54864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06927" y="265176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6927" y="3840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6927" y="4251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Automatic reminders for every tracked asset.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87287.5" y="2468880"/>
            <a:ext cx="54864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87287" y="265176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40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audit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251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Every change logged with user, timestamp, and diff.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67647.5" y="2468880"/>
            <a:ext cx="54864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67647" y="265176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647" y="3840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faster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7647" y="425196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Bulk Excel import replaces manual entry.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Challenges we faced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1E40A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Mail deliverability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004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Some SMTP servers reject mailbox addresses without warning. Required graceful per-recipient error handling and configurable recipient lists.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246120"/>
            <a:ext cx="109115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3291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1E40A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Notification dedupe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758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Re-running the daily check could spam recipients. Solved with a per-day uniqueness check on the notifications table.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251960"/>
            <a:ext cx="109115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297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1E40A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Permission granularity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8172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Initial admin/user split was too coarse. Evolved into a per-module view/edit boolean grid to match real team structures.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5257800"/>
            <a:ext cx="1091153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035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200">
                <a:solidFill>
                  <a:srgbClr val="1E40A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Cross-entity expiry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875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Subscriptions and licenses use different status fields. Refactored CheckExpirations into two parallel passes sharing a recipient resolver.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Future improvements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7755.5" y="3108960"/>
            <a:ext cx="10616184.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98751" y="3026664"/>
            <a:ext cx="164592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027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1E40A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027" y="3566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187" y="40690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Native iOS / Android for on-the-go asset check-in &amp; QR scanning.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1951" y="3026664"/>
            <a:ext cx="164592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1227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1E40AF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566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40690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Slack, Microsoft Teams, and Jira Service Desk webhooks.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5151" y="3026664"/>
            <a:ext cx="164592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4427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1E40AF"/>
                </a:solidFill>
                <a:latin typeface="Calibri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4427" y="3566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AI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40690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Forecast costs and recommend consolidation opportunities.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28351" y="3026664"/>
            <a:ext cx="164592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7627" y="25603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1E40AF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7627" y="3566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Multi-tenant SaaS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4787" y="40690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Org isolation, SSO/SAML, per-tenant billing.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Team members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" y="2651760"/>
            <a:ext cx="2606040" cy="2743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8127" y="3154680"/>
            <a:ext cx="868680" cy="868680"/>
          </a:xfrm>
          <a:prstGeom prst="rect">
            <a:avLst/>
          </a:prstGeom>
          <a:noFill/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8127" y="31546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43434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4709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Project Lead / Backend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29587.5" y="512064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98367" y="2651760"/>
            <a:ext cx="2606040" cy="2743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3154680"/>
            <a:ext cx="868680" cy="868680"/>
          </a:xfrm>
          <a:prstGeom prst="rect">
            <a:avLst/>
          </a:prstGeom>
          <a:noFill/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047" y="31546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8367" y="43434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8367" y="4709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Frontend / UI Engineer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18507.5" y="512064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187287" y="2651760"/>
            <a:ext cx="2606040" cy="2743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5967" y="3154680"/>
            <a:ext cx="868680" cy="868680"/>
          </a:xfrm>
          <a:prstGeom prst="rect">
            <a:avLst/>
          </a:prstGeom>
          <a:noFill/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5967" y="31546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3434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4709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Full-Stack Developer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07427.5" y="512064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976207" y="2651760"/>
            <a:ext cx="2606040" cy="2743200"/>
          </a:xfrm>
          <a:prstGeom prst="rect">
            <a:avLst/>
          </a:pr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44887" y="3154680"/>
            <a:ext cx="868680" cy="868680"/>
          </a:xfrm>
          <a:prstGeom prst="rect">
            <a:avLst/>
          </a:prstGeom>
          <a:noFill/>
          <a:ln w="190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4887" y="31546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6207" y="43434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4]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6207" y="47091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Database / DevOps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96347.5" y="5120640"/>
            <a:ext cx="365760.0" cy="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08760"/>
            <a:ext cx="914400" cy="0"/>
          </a:xfrm>
          <a:prstGeom prst="line">
            <a:avLst/>
          </a:prstGeom>
          <a:ln w="1905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02975" y="502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ITAMS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From spreadsheets to a single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ITAMS gives IT teams the visibility and automation they need.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0847.5" y="4846320"/>
            <a:ext cx="45720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0847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Ready to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847" y="5440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Runs on a standard Laravel + LAMP / XAMPP stack.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67047.5" y="4846320"/>
            <a:ext cx="45720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67047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Designed for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047" y="5440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Modern UI with dark mode and accessibility built in.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53247.5" y="4846320"/>
            <a:ext cx="45720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53247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Built to extend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247" y="5440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Modular architecture invites new asset types and integrations.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300">
                <a:solidFill>
                  <a:srgbClr val="64748B"/>
                </a:solidFill>
                <a:latin typeface="Calibri"/>
              </a:rP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38647.5" y="4617720"/>
            <a:ext cx="914400.0" cy="0"/>
          </a:xfrm>
          <a:prstGeom prst="line">
            <a:avLst/>
          </a:prstGeom>
          <a:ln w="2540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spc="300">
                <a:solidFill>
                  <a:srgbClr val="64748B"/>
                </a:solidFill>
                <a:latin typeface="Calibri"/>
              </a:rPr>
              <a:t>TEAM ITAMS  ·  IT ASSET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[ contact email / repo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