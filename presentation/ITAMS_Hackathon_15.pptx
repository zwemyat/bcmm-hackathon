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00"/>
          </a:xfrm>
          <a:prstGeom prst="rect">
            <a:avLst/>
          </a:prstGeom>
          <a:gradFill flip="none" rotWithShape="1">
            <a:gsLst>
              <a:gs pos="0">
                <a:srgbClr val="1D4ED8"/>
              </a:gs>
              <a:gs pos="100000">
                <a:srgbClr val="0F172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48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300">
                <a:solidFill>
                  <a:srgbClr val="94A3B8"/>
                </a:solidFill>
                <a:latin typeface="Calibri"/>
              </a:rPr>
              <a:t>HACKATHON 2026   ·   IT INFRASTRUCTURE TRACK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60120"/>
            <a:ext cx="502920" cy="502920"/>
          </a:xfrm>
          <a:prstGeom prst="roundRect">
            <a:avLst>
              <a:gd name="adj" fmla="val 18000"/>
            </a:avLst>
          </a:prstGeom>
          <a:noFill/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033271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50">
                <a:solidFill>
                  <a:srgbClr val="FFFFFF"/>
                </a:solidFill>
                <a:latin typeface="Calibri"/>
              </a:rPr>
              <a:t>ITAMS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860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0" b="1">
                <a:solidFill>
                  <a:srgbClr val="FFFFFF"/>
                </a:solidFill>
                <a:latin typeface="Calibri"/>
              </a:rPr>
              <a:t>ITAMS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023360"/>
            <a:ext cx="219456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2062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CBD5E1"/>
                </a:solidFill>
                <a:latin typeface="Calibri"/>
              </a:rPr>
              <a:t>An enterprise IT asset management platform.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09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Track devices, licenses &amp; subscriptions — never miss a renewal.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607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300">
                <a:solidFill>
                  <a:srgbClr val="64748B"/>
                </a:solidFill>
                <a:latin typeface="Calibri"/>
              </a:rPr>
              <a:t>PRESENTED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08076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Team ITAMS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9695" y="57607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300">
                <a:solidFill>
                  <a:srgbClr val="64748B"/>
                </a:solidFill>
                <a:latin typeface="Calibri"/>
              </a:rPr>
              <a:t>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19695" y="60807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CBD5E1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The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02 / 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IT teams lose visibility and money</a:t>
            </a:r>
          </a:p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managing assets in spreadsheets.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5167" y="4023360"/>
            <a:ext cx="5349240" cy="12801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29487" y="429768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487" y="42976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3847" y="4279392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Manual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3847" y="4617720"/>
            <a:ext cx="4343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Devices, licenses &amp; subscriptions scattered across disconnected files.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7287" y="4023360"/>
            <a:ext cx="5349240" cy="12801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61607" y="429768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607" y="42976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Calibri"/>
              </a:rPr>
              <a:t>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79392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Missed renewals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5967" y="4617720"/>
            <a:ext cx="4343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Contracts expire or auto-renew without warning, causing downtime or waste.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5167" y="5486400"/>
            <a:ext cx="5349240" cy="12801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9487" y="576072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487" y="57607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Calibri"/>
              </a:rPr>
              <a:t>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3847" y="5742432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No audit 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3847" y="6080760"/>
            <a:ext cx="4343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No record of who changed what, when — failing internal compliance reviews.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7287" y="5486400"/>
            <a:ext cx="5349240" cy="12801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61607" y="576072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1607" y="576072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Calibri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5967" y="5742432"/>
            <a:ext cx="4343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Hidden cost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5967" y="6080760"/>
            <a:ext cx="4343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Duplicate purchases and unused subscriptions inflate IT spend 20–30%.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Our solution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03 / 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A single platform for the entire</a:t>
            </a:r>
          </a:p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IT asset lifecycle.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ITAMS unifies hardware, devices, licenses, and subscriptions — with automated renewal reminders, role-based access, and a full audit log.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147" y="4480560"/>
            <a:ext cx="361188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5147" y="4480560"/>
            <a:ext cx="3611880" cy="54864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5187" y="47548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187" y="4754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187" y="53949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Unify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187" y="585216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One source of truth for every IT asset across the organisation.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9907" y="4480560"/>
            <a:ext cx="361188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89907" y="4480560"/>
            <a:ext cx="3611880" cy="54864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09947" y="47548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09947" y="4754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9947" y="53949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Automate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9947" y="585216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Email and in-app reminders fire before things expire.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4667" y="4480560"/>
            <a:ext cx="361188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84667" y="4480560"/>
            <a:ext cx="3611880" cy="54864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04707" y="47548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04707" y="47548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Calibri"/>
              </a:rPr>
              <a:t>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4707" y="5394960"/>
            <a:ext cx="3063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Govern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4707" y="585216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Role-based access with full activity history per user.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System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04 / 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327" y="2286000"/>
            <a:ext cx="3291840" cy="14630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2327" y="2286000"/>
            <a:ext cx="3291840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6647" y="2560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TIER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647" y="283464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647" y="3291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Browser · Blade · Bootstrap 5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84167.5" y="3017520.0"/>
            <a:ext cx="320040.0" cy="0.0"/>
          </a:xfrm>
          <a:prstGeom prst="line">
            <a:avLst/>
          </a:prstGeom>
          <a:ln w="15875">
            <a:solidFill>
              <a:srgbClr val="94A3B8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449927" y="2286000"/>
            <a:ext cx="3291840" cy="14630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49927" y="2286000"/>
            <a:ext cx="3291840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4247" y="2560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TIER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4247" y="283464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Application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4247" y="3291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Laravel 11 · Controllers · Mailables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41767.5" y="3017520.0"/>
            <a:ext cx="320040.0" cy="0.0"/>
          </a:xfrm>
          <a:prstGeom prst="line">
            <a:avLst/>
          </a:prstGeom>
          <a:ln w="15875">
            <a:solidFill>
              <a:srgbClr val="94A3B8"/>
            </a:solidFill>
            <a:tailEnd type="triangle" w="sm" h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107527" y="2286000"/>
            <a:ext cx="3291840" cy="14630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07527" y="2286000"/>
            <a:ext cx="3291840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1847" y="2560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TIER 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1847" y="283464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1847" y="3291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MySQL 8 · Eloquent ORM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2327" y="4023360"/>
            <a:ext cx="10607040" cy="960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2367" y="41605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BACKGROUND SERVICES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12367" y="448056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2367" y="44805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69567" y="4462272"/>
            <a:ext cx="2865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Scheduler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69567" y="4681728"/>
            <a:ext cx="286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app:check-expirations · daily 09:00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34687" y="448056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687" y="44805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1887" y="4462272"/>
            <a:ext cx="2865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SMTP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1887" y="4681728"/>
            <a:ext cx="286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Renewal reminder emails to recipients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57007" y="448056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57007" y="44805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4207" y="4462272"/>
            <a:ext cx="2865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Activity Log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4207" y="4681728"/>
            <a:ext cx="2865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Per-user audit trail of every change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2327" y="5029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64748B"/>
                </a:solidFill>
                <a:latin typeface="Calibri"/>
              </a:rPr>
              <a:t>FUNCTIONAL MODULES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2327" y="5303520"/>
            <a:ext cx="1229868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2327" y="5303520"/>
            <a:ext cx="122986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PC Master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31923" y="5303520"/>
            <a:ext cx="1613916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31923" y="5303520"/>
            <a:ext cx="161391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Device Master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55567" y="5303520"/>
            <a:ext cx="1613916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55567" y="5303520"/>
            <a:ext cx="161391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Subscriptions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79211" y="5303520"/>
            <a:ext cx="22860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9211" y="53035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Licenses &amp; Contracts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974939" y="5303520"/>
            <a:ext cx="1613916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74939" y="5303520"/>
            <a:ext cx="161391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Notifications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98583" y="5303520"/>
            <a:ext cx="180594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98583" y="5303520"/>
            <a:ext cx="18059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0F172A"/>
                </a:solidFill>
                <a:latin typeface="Calibri"/>
              </a:rPr>
              <a:t>User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CAPABILITIES · 1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Key features — asset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05 / 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9456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46888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PC Master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Track workstations: assignee, OS, specs, purchase date, warranty.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19456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09160" y="246888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24688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0632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Device Master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42900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Network hardware inventory — routers, switches, servers, printers.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19456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0" y="246888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4688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0632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Subscriptions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42900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Recurring services with renewal cycles, vendor and cost history.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11480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38912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891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83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Licenses &amp; Contracts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Software licenses and vendor contracts with expiry tracking.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411480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09160" y="438912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43891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4983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Bulk import/export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534924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Excel import &amp; export per module, with downloadable templates.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11480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503920" y="438912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43891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4983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Searchable &amp; paginated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534924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Filter, search and bulk-delete across the whole asset estate.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CAPABILITIES · 2 OF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Key features — operations &amp; governance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06 / 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19456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246888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Smart reminders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Daily scheduler emails staggered digests at the day-marks you choose.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19456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09160" y="246888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24688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30632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Per-user inbox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42900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Read state tracked individually; items re-surface when urgency shifts.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19456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0" y="246888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4688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06324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Role-based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342900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Admin / per-module view &amp; edit permissions enforced by middleware.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11480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38912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891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83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Every create, update, delete logged with user, time and field diff.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4840" y="411480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09160" y="438912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9160" y="43891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9160" y="4983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Configurable mail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534924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Switch between .env SMTP and database settings without redeploying.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4114800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503920" y="4389120"/>
            <a:ext cx="420624" cy="42062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438912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Calibri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49834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Live status badge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5349240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Topbar bell counts overdue and due-soon items in real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BUILT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07 / 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567" y="2194560"/>
            <a:ext cx="3657600" cy="3840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567" y="2194560"/>
            <a:ext cx="3657600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0887" y="242316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887" y="24231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3807" y="24688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Frontend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0887.5" y="3264408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29487" y="31363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Bootstrap 5.3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487" y="3383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UI &amp; responsive grid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0887.5" y="3922776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29487" y="37947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Bootstrap Icons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487" y="40416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Iconography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0887.5" y="4581144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29487" y="44531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Inter font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487" y="470001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Enterprise typeface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00887.5" y="5239512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9487" y="51114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Vanilla JS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487" y="535838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Lightweight interactivity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67047" y="2194560"/>
            <a:ext cx="3657600" cy="3840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67047" y="2194560"/>
            <a:ext cx="3657600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41367" y="242316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41367" y="24231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4287" y="24688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Backend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41367.5" y="3264408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769967" y="31363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Laravel 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69967" y="3383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MVC framework, Eloquent ORM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541367.5" y="3922776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769967" y="37947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PHP 8.2+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69967" y="40416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Typed properties, modern syntax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41367.5" y="4581144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69967" y="44531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Blade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69967" y="470001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Server-rendered templating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41367.5" y="5239512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769967" y="51114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Maatwebsite/Excel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9967" y="535838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Import &amp; export to .xlsx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07527" y="2194560"/>
            <a:ext cx="3657600" cy="3840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07527" y="2194560"/>
            <a:ext cx="3657600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381847" y="242316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81847" y="24231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Calibri"/>
              </a:rPr>
              <a:t>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84767" y="246888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Data &amp; Infra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381847.5" y="3264408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610447" y="313639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MySQL 8 / MariaDB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10447" y="3383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Relational storage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381847.5" y="3922776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610447" y="37947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Symfony Mailer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10447" y="404164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SMTP delivery via Laravel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381847.5" y="4581144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610447" y="44531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XAMPP / Apache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10447" y="470001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On-prem hosting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381847.5" y="5239512"/>
            <a:ext cx="13716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610447" y="511149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Cron scheduler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10447" y="535838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Calibri"/>
              </a:rPr>
              <a:t>Daily expiry checks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How it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08 / 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5751" y="2907792"/>
            <a:ext cx="10680192" cy="36576"/>
          </a:xfrm>
          <a:prstGeom prst="rect">
            <a:avLst/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42135" y="28346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78711" y="28712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2871" y="251460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spc="200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2871" y="3246120"/>
            <a:ext cx="2121408" cy="2011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471" y="352044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Onboard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471" y="3977640"/>
            <a:ext cx="166420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Admin adds assets or imports an .xlsx file.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73271" y="28346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09847" y="28712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04007" y="251460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spc="200">
                <a:solidFill>
                  <a:srgbClr val="2563EB"/>
                </a:solidFill>
                <a:latin typeface="Calibri"/>
              </a:rPr>
              <a:t>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04007" y="3246120"/>
            <a:ext cx="2121408" cy="2011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32607" y="352044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Track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32607" y="3977640"/>
            <a:ext cx="166420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Modules show real-time status across the estate.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04407" y="28346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40983" y="28712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35143" y="251460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spc="200">
                <a:solidFill>
                  <a:srgbClr val="2563EB"/>
                </a:solidFill>
                <a:latin typeface="Calibri"/>
              </a:rPr>
              <a:t>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35143" y="3246120"/>
            <a:ext cx="2121408" cy="2011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63743" y="352044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Detect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3743" y="3977640"/>
            <a:ext cx="166420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Daily scheduler scans for items in the renewal window.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35543" y="28346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72119" y="28712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6279" y="251460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spc="200">
                <a:solidFill>
                  <a:srgbClr val="2563EB"/>
                </a:solidFill>
                <a:latin typeface="Calibri"/>
              </a:rPr>
              <a:t>04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66279" y="3246120"/>
            <a:ext cx="2121408" cy="2011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4879" y="352044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Notify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4879" y="3977640"/>
            <a:ext cx="166420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Email + in-app alerts fire to configured recipients.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66679" y="283464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503255" y="28712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97415" y="2514600"/>
            <a:ext cx="21214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spc="200">
                <a:solidFill>
                  <a:srgbClr val="2563EB"/>
                </a:solidFill>
                <a:latin typeface="Calibri"/>
              </a:rPr>
              <a:t>05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497415" y="3246120"/>
            <a:ext cx="2121408" cy="20116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26015" y="352044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Renew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26015" y="3977640"/>
            <a:ext cx="166420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Owners renew or terminate; status auto-updates.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Items re-surface as unread whenever their urgency bucket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UI / UX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09 / 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F172A"/>
                </a:solidFill>
                <a:latin typeface="Calibri"/>
              </a:rPr>
              <a:t>Designed for daily IT operations.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26080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90779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Modern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1729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Liquid-glass cards over soft gradient surfaces.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93008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49300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4747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Light &amp; dark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73989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Theme persists across sessions per user.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059936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5993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416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Inter typography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306824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Tight letter-spacing, optimized for scanning.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26864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2686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60857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Accessibility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87375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Keyboard nav, ARIA labels, visible focus rings.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193792"/>
            <a:ext cx="310896" cy="31089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19379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17550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Responsive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4406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Sidebar rail on tablet; full reflow on mobile.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2194560"/>
            <a:ext cx="4754880" cy="3840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6858000" y="2578608"/>
            <a:ext cx="475488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022592" y="2322576"/>
            <a:ext cx="146304" cy="146304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242048" y="2322576"/>
            <a:ext cx="146304" cy="146304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61504" y="2322576"/>
            <a:ext cx="146304" cy="146304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72400" y="2286000"/>
            <a:ext cx="3657600" cy="23774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0" y="2286000"/>
            <a:ext cx="34747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itams.local / dashboard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2578608"/>
            <a:ext cx="960120" cy="345643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7818120" y="2578608"/>
            <a:ext cx="0" cy="3456432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976872" y="2724912"/>
            <a:ext cx="292608" cy="292608"/>
          </a:xfrm>
          <a:prstGeom prst="roundRect">
            <a:avLst>
              <a:gd name="adj" fmla="val 25000"/>
            </a:avLst>
          </a:prstGeom>
          <a:noFill/>
          <a:ln w="1524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76872" y="2724912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2563EB"/>
                </a:solidFill>
                <a:latin typeface="Calibri"/>
              </a:rPr>
              <a:t>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2761488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15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49440" y="3163824"/>
            <a:ext cx="822960" cy="256032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40880" y="320040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Calibri"/>
              </a:rPr>
              <a:t>Dashboard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3493008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PC Master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378561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Devices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4078224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Subscriptions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4370832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Licenses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466344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64748B"/>
                </a:solidFill>
                <a:latin typeface="Calibri"/>
              </a:rPr>
              <a:t>Activity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01000" y="2834640"/>
            <a:ext cx="80467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01000" y="2834640"/>
            <a:ext cx="804672" cy="45720"/>
          </a:xfrm>
          <a:prstGeom prst="rect">
            <a:avLst/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38160" y="2953512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128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0" y="333756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spc="200">
                <a:solidFill>
                  <a:srgbClr val="64748B"/>
                </a:solidFill>
                <a:latin typeface="Calibri"/>
              </a:rPr>
              <a:t>PCS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78824" y="2834640"/>
            <a:ext cx="80467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878824" y="2834640"/>
            <a:ext cx="804672" cy="45720"/>
          </a:xfrm>
          <a:prstGeom prst="rect">
            <a:avLst/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15984" y="2953512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64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15984" y="333756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spc="200">
                <a:solidFill>
                  <a:srgbClr val="64748B"/>
                </a:solidFill>
                <a:latin typeface="Calibri"/>
              </a:rPr>
              <a:t>DEVICES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756648" y="2834640"/>
            <a:ext cx="80467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756648" y="2834640"/>
            <a:ext cx="804672" cy="45720"/>
          </a:xfrm>
          <a:prstGeom prst="rect">
            <a:avLst/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893808" y="2953512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32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893808" y="333756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spc="200">
                <a:solidFill>
                  <a:srgbClr val="64748B"/>
                </a:solidFill>
                <a:latin typeface="Calibri"/>
              </a:rPr>
              <a:t>ACTIVE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634472" y="2834640"/>
            <a:ext cx="80467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634472" y="2834640"/>
            <a:ext cx="804672" cy="45720"/>
          </a:xfrm>
          <a:prstGeom prst="rect">
            <a:avLst/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771632" y="2953512"/>
            <a:ext cx="6217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71632" y="333756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spc="200">
                <a:solidFill>
                  <a:srgbClr val="64748B"/>
                </a:solidFill>
                <a:latin typeface="Calibri"/>
              </a:rPr>
              <a:t>EXPIRING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01000" y="3840480"/>
            <a:ext cx="347472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183880" y="5001768"/>
            <a:ext cx="164592" cy="576072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4F46E5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551926" y="4672584"/>
            <a:ext cx="164592" cy="905256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4F46E5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919972" y="4823460"/>
            <a:ext cx="164592" cy="75438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4F46E5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288018" y="4411980"/>
            <a:ext cx="164592" cy="116586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4F46E5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656064" y="4754881"/>
            <a:ext cx="164592" cy="822959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4F46E5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024110" y="4274821"/>
            <a:ext cx="164592" cy="1303019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4F46E5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0392156" y="4617721"/>
            <a:ext cx="164592" cy="960119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4F46E5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0760202" y="4892040"/>
            <a:ext cx="164592" cy="685800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4F46E5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11128248" y="4507992"/>
            <a:ext cx="164592" cy="1069848"/>
          </a:xfrm>
          <a:prstGeom prst="roundRect">
            <a:avLst>
              <a:gd name="adj" fmla="val 20000"/>
            </a:avLst>
          </a:prstGeom>
          <a:gradFill flip="none" rotWithShape="1">
            <a:gsLst>
              <a:gs pos="0">
                <a:srgbClr val="4F46E5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Benefits &amp; impact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10 / 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567" y="2377440"/>
            <a:ext cx="2697480" cy="3108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567" y="2377440"/>
            <a:ext cx="2697480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887" y="283464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Calibri"/>
              </a:rPr>
              <a:t>30%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0887.5" y="4160520"/>
            <a:ext cx="45720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00887" y="429768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lower IT spend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887" y="470916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Eliminates duplicate purchases &amp; unused subscriptions.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06927" y="2377440"/>
            <a:ext cx="2697480" cy="3108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06927" y="2377440"/>
            <a:ext cx="2697480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1247" y="283464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Calibri"/>
              </a:rPr>
              <a:t>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81247.5" y="4160520"/>
            <a:ext cx="45720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581247" y="429768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missed renewals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1247" y="470916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Automatic reminders for every tracked asset.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7287" y="2377440"/>
            <a:ext cx="2697480" cy="3108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87287" y="2377440"/>
            <a:ext cx="2697480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1607" y="283464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Calibri"/>
              </a:rPr>
              <a:t>100%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61607.5" y="4160520"/>
            <a:ext cx="45720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61607" y="429768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audit coverage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1607" y="470916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Every change logged with user, time, and diff.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7647" y="2377440"/>
            <a:ext cx="2697480" cy="31089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067647" y="2377440"/>
            <a:ext cx="2697480" cy="73152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41967" y="283464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Calibri"/>
              </a:rPr>
              <a:t>5×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41967.5" y="4160520"/>
            <a:ext cx="45720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341967" y="429768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faster onboarding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1967" y="470916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Bulk Excel import replaces manual entry.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Challenges we faced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11 / 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86000"/>
            <a:ext cx="10820095" cy="914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286000"/>
            <a:ext cx="54864" cy="914400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200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4505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Mail deliverability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743200"/>
            <a:ext cx="9905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Some SMTP servers reject mailbox addresses without warning. Solved with graceful per-recipient error handling and configurable lists.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319272"/>
            <a:ext cx="10820095" cy="914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319272"/>
            <a:ext cx="54864" cy="914400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0215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200">
                <a:solidFill>
                  <a:srgbClr val="2563EB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48386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Notification dedupe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776472"/>
            <a:ext cx="9905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Re-running the daily check could spam recipients. Per-day uniqueness check on the notifications table prevents duplicates.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352544"/>
            <a:ext cx="10820095" cy="914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352544"/>
            <a:ext cx="54864" cy="914400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3542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200">
                <a:solidFill>
                  <a:srgbClr val="2563EB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51713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Permission granularity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809744"/>
            <a:ext cx="9905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Initial admin/user split was too coarse. Evolved into a per-module view/edit boolean grid matching real team structures.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385816"/>
            <a:ext cx="10820095" cy="9144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5385816"/>
            <a:ext cx="54864" cy="914400"/>
          </a:xfrm>
          <a:prstGeom prst="rect">
            <a:avLst/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56869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spc="200">
                <a:solidFill>
                  <a:srgbClr val="2563EB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55040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Cross-entity expiry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843016"/>
            <a:ext cx="9905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Subscriptions and licenses use different status fields. Refactored into two parallel passes sharing a recipient resolver.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Future improvements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12 / 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327" y="3273552"/>
            <a:ext cx="10607040" cy="36576"/>
          </a:xfrm>
          <a:prstGeom prst="rect">
            <a:avLst/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00987" y="2651760"/>
            <a:ext cx="822960" cy="36576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0987" y="26517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spc="15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1027" y="320040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66747" y="32461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09447" y="3566160"/>
            <a:ext cx="260604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047" y="3886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Mobile 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047" y="438912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Native iOS / Android for on-the-go asset check-in &amp; QR scanning.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9907" y="2651760"/>
            <a:ext cx="822960" cy="36576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89907" y="26517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spc="15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09947" y="320040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55667" y="32461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98367" y="3566160"/>
            <a:ext cx="260604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26967" y="3886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Integrations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6967" y="438912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Slack, Microsoft Teams, and Jira Service Desk webhooks.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78827" y="2651760"/>
            <a:ext cx="822960" cy="36576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78827" y="26517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spc="15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98867" y="320040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44587" y="32461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87287" y="3566160"/>
            <a:ext cx="260604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5887" y="3886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AI insights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5887" y="438912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Forecast costs and recommend consolidation opportunities.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67747" y="2651760"/>
            <a:ext cx="822960" cy="365760"/>
          </a:xfrm>
          <a:prstGeom prst="roundRect">
            <a:avLst>
              <a:gd name="adj" fmla="val 4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67747" y="265176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spc="15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87787" y="320040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233507" y="3246120"/>
            <a:ext cx="91440" cy="914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976207" y="3566160"/>
            <a:ext cx="2606040" cy="2103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04807" y="388620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F172A"/>
                </a:solidFill>
                <a:latin typeface="Calibri"/>
              </a:rPr>
              <a:t>Multi-tenant SaaS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04807" y="4389120"/>
            <a:ext cx="2148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Org isolation, SSO/SAML, per-tenant billing.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Team members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13 / 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6567" y="2468880"/>
            <a:ext cx="2697480" cy="2926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26667" y="2880360"/>
            <a:ext cx="1097280" cy="1097280"/>
          </a:xfrm>
          <a:prstGeom prst="roundRect">
            <a:avLst>
              <a:gd name="adj" fmla="val 18000"/>
            </a:avLst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26667" y="288036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PL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6567" y="42519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[Member 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567" y="46177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Project Lead / Backend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500987.5" y="5029200"/>
            <a:ext cx="54864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06927" y="2468880"/>
            <a:ext cx="2697480" cy="2926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107027" y="2880360"/>
            <a:ext cx="1097280" cy="1097280"/>
          </a:xfrm>
          <a:prstGeom prst="roundRect">
            <a:avLst>
              <a:gd name="adj" fmla="val 18000"/>
            </a:avLst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07027" y="288036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06927" y="42519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[Member 2]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06927" y="46177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Frontend / UI Engineer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381347.5" y="5029200"/>
            <a:ext cx="54864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87287" y="2468880"/>
            <a:ext cx="2697480" cy="2926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87387" y="2880360"/>
            <a:ext cx="1097280" cy="1097280"/>
          </a:xfrm>
          <a:prstGeom prst="roundRect">
            <a:avLst>
              <a:gd name="adj" fmla="val 18000"/>
            </a:avLst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87387" y="288036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FS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287" y="42519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[Member 3]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287" y="46177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Full-Stack Developer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261707.5" y="5029200"/>
            <a:ext cx="54864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067647" y="2468880"/>
            <a:ext cx="2697480" cy="29260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67747" y="2880360"/>
            <a:ext cx="1097280" cy="1097280"/>
          </a:xfrm>
          <a:prstGeom prst="roundRect">
            <a:avLst>
              <a:gd name="adj" fmla="val 18000"/>
            </a:avLst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67747" y="288036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DB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67647" y="42519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[Member 4]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67647" y="46177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475569"/>
                </a:solidFill>
                <a:latin typeface="Calibri"/>
              </a:rPr>
              <a:t>Database / DevOps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142067.5" y="5029200"/>
            <a:ext cx="548640.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566928"/>
            <a:ext cx="73152" cy="7315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2563EB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82880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2563EB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20095" y="50292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spc="150">
                <a:solidFill>
                  <a:srgbClr val="94A3B8"/>
                </a:solidFill>
                <a:latin typeface="Calibri"/>
              </a:rPr>
              <a:t>14 / 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6355080"/>
            <a:ext cx="10820095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0F172A"/>
                </a:solidFill>
                <a:latin typeface="Calibri"/>
              </a:rPr>
              <a:t>ITAMS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IT Asset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From spreadsheets to a single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Calibri"/>
              </a:rPr>
              <a:t>source of truth.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4903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ITAMS gives IT teams the visibility and automation they need.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0847" y="4754880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5167" y="502920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167" y="50292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Calibri"/>
              </a:rPr>
              <a:t>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9527" y="50292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Ready to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9527" y="539496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Runs on a standard Laravel + LAMP / XAMPP stack.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7047" y="4754880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41367" y="502920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1367" y="50292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Calibri"/>
              </a:rPr>
              <a:t>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5727" y="50292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Designed for users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5727" y="539496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Modern UI with dark mode and accessibility built in.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3247" y="4754880"/>
            <a:ext cx="3657600" cy="15544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27567" y="5029200"/>
            <a:ext cx="384048" cy="384048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27567" y="502920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Calibri"/>
              </a:rPr>
              <a:t>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1927" y="50292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Calibri"/>
              </a:rPr>
              <a:t>Built to extend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1927" y="539496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  <a:latin typeface="Calibri"/>
              </a:rPr>
              <a:t>Modular architecture invites new asset types &amp; integrations.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0"/>
          </a:xfrm>
          <a:prstGeom prst="rect">
            <a:avLst/>
          </a:prstGeom>
          <a:gradFill flip="none" rotWithShape="1">
            <a:gsLst>
              <a:gs pos="0">
                <a:srgbClr val="1D4ED8"/>
              </a:gs>
              <a:gs pos="100000">
                <a:srgbClr val="0F172A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00"/>
            <a:ext cx="12191695" cy="36576"/>
          </a:xfrm>
          <a:prstGeom prst="rect">
            <a:avLst/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0116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spc="300">
                <a:solidFill>
                  <a:srgbClr val="94A3B8"/>
                </a:solidFill>
                <a:latin typeface="Calibri"/>
              </a:rPr>
              <a:t>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47207" y="4572000"/>
            <a:ext cx="1097280" cy="5486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60A5FA"/>
              </a:gs>
              <a:gs pos="100000">
                <a:srgbClr val="4F46E5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754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>
                <a:solidFill>
                  <a:srgbClr val="CBD5E1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spc="300">
                <a:solidFill>
                  <a:srgbClr val="94A3B8"/>
                </a:solidFill>
                <a:latin typeface="Calibri"/>
              </a:rPr>
              <a:t>TEAM ITAMS  ·  IT ASSET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[ contact email / repo link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